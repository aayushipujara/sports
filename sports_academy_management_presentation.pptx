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F861C-7C31-46ED-BD7C-C6C23C5AA993}" v="2" dt="2026-06-19T21:57:55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23" autoAdjust="0"/>
    <p:restoredTop sz="94660"/>
  </p:normalViewPr>
  <p:slideViewPr>
    <p:cSldViewPr snapToGrid="0">
      <p:cViewPr varScale="1">
        <p:scale>
          <a:sx n="73" d="100"/>
          <a:sy n="73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alkumar Pujara" userId="3d3ff249afb02f5e" providerId="LiveId" clId="{75FED76C-ED35-466C-9A3D-7366873F6F7D}"/>
    <pc:docChg chg="delSld modSld">
      <pc:chgData name="Hiralkumar Pujara" userId="3d3ff249afb02f5e" providerId="LiveId" clId="{75FED76C-ED35-466C-9A3D-7366873F6F7D}" dt="2026-06-19T22:01:10.556" v="216" actId="2696"/>
      <pc:docMkLst>
        <pc:docMk/>
      </pc:docMkLst>
      <pc:sldChg chg="modSp mod">
        <pc:chgData name="Hiralkumar Pujara" userId="3d3ff249afb02f5e" providerId="LiveId" clId="{75FED76C-ED35-466C-9A3D-7366873F6F7D}" dt="2026-06-19T21:58:00.214" v="209" actId="20577"/>
        <pc:sldMkLst>
          <pc:docMk/>
          <pc:sldMk cId="917098237" sldId="256"/>
        </pc:sldMkLst>
        <pc:spChg chg="mod">
          <ac:chgData name="Hiralkumar Pujara" userId="3d3ff249afb02f5e" providerId="LiveId" clId="{75FED76C-ED35-466C-9A3D-7366873F6F7D}" dt="2026-06-19T21:58:00.214" v="209" actId="20577"/>
          <ac:spMkLst>
            <pc:docMk/>
            <pc:sldMk cId="917098237" sldId="256"/>
            <ac:spMk id="17" creationId="{36BF9B1C-493B-47EE-B86A-FD5A2317D227}"/>
          </ac:spMkLst>
        </pc:spChg>
      </pc:sldChg>
      <pc:sldChg chg="del">
        <pc:chgData name="Hiralkumar Pujara" userId="3d3ff249afb02f5e" providerId="LiveId" clId="{75FED76C-ED35-466C-9A3D-7366873F6F7D}" dt="2026-06-19T21:58:27.053" v="210" actId="2696"/>
        <pc:sldMkLst>
          <pc:docMk/>
          <pc:sldMk cId="1447170789" sldId="258"/>
        </pc:sldMkLst>
      </pc:sldChg>
      <pc:sldChg chg="modSp mod">
        <pc:chgData name="Hiralkumar Pujara" userId="3d3ff249afb02f5e" providerId="LiveId" clId="{75FED76C-ED35-466C-9A3D-7366873F6F7D}" dt="2026-06-19T21:58:48.845" v="212" actId="14100"/>
        <pc:sldMkLst>
          <pc:docMk/>
          <pc:sldMk cId="301841576" sldId="259"/>
        </pc:sldMkLst>
        <pc:spChg chg="mod">
          <ac:chgData name="Hiralkumar Pujara" userId="3d3ff249afb02f5e" providerId="LiveId" clId="{75FED76C-ED35-466C-9A3D-7366873F6F7D}" dt="2026-06-19T21:58:48.845" v="212" actId="14100"/>
          <ac:spMkLst>
            <pc:docMk/>
            <pc:sldMk cId="301841576" sldId="259"/>
            <ac:spMk id="17" creationId="{842E88FF-7D55-4DE7-B2E9-DAE8BCA0876E}"/>
          </ac:spMkLst>
        </pc:spChg>
      </pc:sldChg>
      <pc:sldChg chg="modSp mod">
        <pc:chgData name="Hiralkumar Pujara" userId="3d3ff249afb02f5e" providerId="LiveId" clId="{75FED76C-ED35-466C-9A3D-7366873F6F7D}" dt="2026-06-19T21:50:13.663" v="1" actId="14100"/>
        <pc:sldMkLst>
          <pc:docMk/>
          <pc:sldMk cId="742846548" sldId="262"/>
        </pc:sldMkLst>
        <pc:spChg chg="mod">
          <ac:chgData name="Hiralkumar Pujara" userId="3d3ff249afb02f5e" providerId="LiveId" clId="{75FED76C-ED35-466C-9A3D-7366873F6F7D}" dt="2026-06-19T21:50:02.816" v="0" actId="14100"/>
          <ac:spMkLst>
            <pc:docMk/>
            <pc:sldMk cId="742846548" sldId="262"/>
            <ac:spMk id="31" creationId="{517705C0-9227-4101-B600-94D4639DC59B}"/>
          </ac:spMkLst>
        </pc:spChg>
        <pc:spChg chg="mod">
          <ac:chgData name="Hiralkumar Pujara" userId="3d3ff249afb02f5e" providerId="LiveId" clId="{75FED76C-ED35-466C-9A3D-7366873F6F7D}" dt="2026-06-19T21:50:13.663" v="1" actId="14100"/>
          <ac:spMkLst>
            <pc:docMk/>
            <pc:sldMk cId="742846548" sldId="262"/>
            <ac:spMk id="34" creationId="{8C8576E5-599D-4852-9995-8CF3788D2E3B}"/>
          </ac:spMkLst>
        </pc:spChg>
      </pc:sldChg>
      <pc:sldChg chg="modSp mod">
        <pc:chgData name="Hiralkumar Pujara" userId="3d3ff249afb02f5e" providerId="LiveId" clId="{75FED76C-ED35-466C-9A3D-7366873F6F7D}" dt="2026-06-19T21:51:49.306" v="5" actId="14100"/>
        <pc:sldMkLst>
          <pc:docMk/>
          <pc:sldMk cId="515037855" sldId="266"/>
        </pc:sldMkLst>
        <pc:spChg chg="mod">
          <ac:chgData name="Hiralkumar Pujara" userId="3d3ff249afb02f5e" providerId="LiveId" clId="{75FED76C-ED35-466C-9A3D-7366873F6F7D}" dt="2026-06-19T21:51:18.300" v="2" actId="1076"/>
          <ac:spMkLst>
            <pc:docMk/>
            <pc:sldMk cId="515037855" sldId="266"/>
            <ac:spMk id="24" creationId="{8D8F4D4C-E56C-41A5-BD5A-6850B9104173}"/>
          </ac:spMkLst>
        </pc:spChg>
        <pc:spChg chg="mod">
          <ac:chgData name="Hiralkumar Pujara" userId="3d3ff249afb02f5e" providerId="LiveId" clId="{75FED76C-ED35-466C-9A3D-7366873F6F7D}" dt="2026-06-19T21:51:49.306" v="5" actId="14100"/>
          <ac:spMkLst>
            <pc:docMk/>
            <pc:sldMk cId="515037855" sldId="266"/>
            <ac:spMk id="27" creationId="{D57F3F02-305E-45B3-9D45-2D512A5E7AAA}"/>
          </ac:spMkLst>
        </pc:spChg>
      </pc:sldChg>
      <pc:sldChg chg="modSp mod">
        <pc:chgData name="Hiralkumar Pujara" userId="3d3ff249afb02f5e" providerId="LiveId" clId="{75FED76C-ED35-466C-9A3D-7366873F6F7D}" dt="2026-06-19T22:00:47.892" v="215" actId="255"/>
        <pc:sldMkLst>
          <pc:docMk/>
          <pc:sldMk cId="789124344" sldId="269"/>
        </pc:sldMkLst>
        <pc:spChg chg="mod">
          <ac:chgData name="Hiralkumar Pujara" userId="3d3ff249afb02f5e" providerId="LiveId" clId="{75FED76C-ED35-466C-9A3D-7366873F6F7D}" dt="2026-06-19T22:00:47.892" v="215" actId="255"/>
          <ac:spMkLst>
            <pc:docMk/>
            <pc:sldMk cId="789124344" sldId="269"/>
            <ac:spMk id="6" creationId="{8DB0130C-0CF8-4365-A583-1426A2B4BB3D}"/>
          </ac:spMkLst>
        </pc:spChg>
      </pc:sldChg>
      <pc:sldChg chg="del">
        <pc:chgData name="Hiralkumar Pujara" userId="3d3ff249afb02f5e" providerId="LiveId" clId="{75FED76C-ED35-466C-9A3D-7366873F6F7D}" dt="2026-06-19T22:01:10.556" v="216" actId="2696"/>
        <pc:sldMkLst>
          <pc:docMk/>
          <pc:sldMk cId="1257048787" sldId="270"/>
        </pc:sldMkLst>
      </pc:sldChg>
      <pc:sldChg chg="modSp mod">
        <pc:chgData name="Hiralkumar Pujara" userId="3d3ff249afb02f5e" providerId="LiveId" clId="{75FED76C-ED35-466C-9A3D-7366873F6F7D}" dt="2026-06-19T21:53:27.700" v="38" actId="20577"/>
        <pc:sldMkLst>
          <pc:docMk/>
          <pc:sldMk cId="1945265580" sldId="271"/>
        </pc:sldMkLst>
        <pc:spChg chg="mod">
          <ac:chgData name="Hiralkumar Pujara" userId="3d3ff249afb02f5e" providerId="LiveId" clId="{75FED76C-ED35-466C-9A3D-7366873F6F7D}" dt="2026-06-19T21:53:27.700" v="38" actId="20577"/>
          <ac:spMkLst>
            <pc:docMk/>
            <pc:sldMk cId="1945265580" sldId="271"/>
            <ac:spMk id="23" creationId="{00E5E85B-5E08-460C-9934-B887DD51F9E5}"/>
          </ac:spMkLst>
        </pc:spChg>
      </pc:sldChg>
      <pc:sldChg chg="modSp mod">
        <pc:chgData name="Hiralkumar Pujara" userId="3d3ff249afb02f5e" providerId="LiveId" clId="{75FED76C-ED35-466C-9A3D-7366873F6F7D}" dt="2026-06-19T21:54:58.368" v="39" actId="1076"/>
        <pc:sldMkLst>
          <pc:docMk/>
          <pc:sldMk cId="1377790645" sldId="273"/>
        </pc:sldMkLst>
        <pc:spChg chg="mod">
          <ac:chgData name="Hiralkumar Pujara" userId="3d3ff249afb02f5e" providerId="LiveId" clId="{75FED76C-ED35-466C-9A3D-7366873F6F7D}" dt="2026-06-19T21:54:58.368" v="39" actId="1076"/>
          <ac:spMkLst>
            <pc:docMk/>
            <pc:sldMk cId="1377790645" sldId="273"/>
            <ac:spMk id="11" creationId="{61DFE3C8-6E2B-43FA-B3ED-A304BE81C1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663A97A-9492-43BF-ACB1-1F7C5224FB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8FF721-17BC-4248-960D-C8AA5BC0ABF6}"/>
              </a:ext>
            </a:extLst>
          </p:cNvPr>
          <p:cNvSpPr>
            <a:spLocks noGrp="1"/>
          </p:cNvSpPr>
          <p:nvPr/>
        </p:nvSpPr>
        <p:spPr>
          <a:xfrm>
            <a:off x="7429500" y="876300"/>
            <a:ext cx="3524250" cy="4552950"/>
          </a:xfrm>
          <a:prstGeom prst="roundRect">
            <a:avLst>
              <a:gd name="adj" fmla="val 4324"/>
            </a:avLst>
          </a:prstGeom>
          <a:solidFill>
            <a:srgbClr val="174F4D"/>
          </a:solidFill>
          <a:ln w="9525">
            <a:solidFill>
              <a:srgbClr val="2A6D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018D57-EC05-4486-A6BA-C1B529ABFC01}"/>
              </a:ext>
            </a:extLst>
          </p:cNvPr>
          <p:cNvSpPr>
            <a:spLocks noGrp="1"/>
          </p:cNvSpPr>
          <p:nvPr/>
        </p:nvSpPr>
        <p:spPr>
          <a:xfrm>
            <a:off x="7905750" y="135255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7F9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F0EEE8-7D70-44AB-A9A2-796E5441B8F9}"/>
              </a:ext>
            </a:extLst>
          </p:cNvPr>
          <p:cNvSpPr>
            <a:spLocks noGrp="1"/>
          </p:cNvSpPr>
          <p:nvPr/>
        </p:nvSpPr>
        <p:spPr>
          <a:xfrm>
            <a:off x="8115300" y="14668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SPORT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9C363C-09CC-44F0-8112-FEB2795451E1}"/>
              </a:ext>
            </a:extLst>
          </p:cNvPr>
          <p:cNvSpPr>
            <a:spLocks noGrp="1"/>
          </p:cNvSpPr>
          <p:nvPr/>
        </p:nvSpPr>
        <p:spPr>
          <a:xfrm>
            <a:off x="7905750" y="207645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7F9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3B3AC-724C-456E-90F8-CEF9FB0781BA}"/>
              </a:ext>
            </a:extLst>
          </p:cNvPr>
          <p:cNvSpPr>
            <a:spLocks noGrp="1"/>
          </p:cNvSpPr>
          <p:nvPr/>
        </p:nvSpPr>
        <p:spPr>
          <a:xfrm>
            <a:off x="8115300" y="21907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54D137-356E-4AE8-A891-192FF6BB7851}"/>
              </a:ext>
            </a:extLst>
          </p:cNvPr>
          <p:cNvSpPr>
            <a:spLocks noGrp="1"/>
          </p:cNvSpPr>
          <p:nvPr/>
        </p:nvSpPr>
        <p:spPr>
          <a:xfrm>
            <a:off x="7905750" y="280035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7F9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BB5A0-06DA-42C3-BDCF-06FFC89D67CC}"/>
              </a:ext>
            </a:extLst>
          </p:cNvPr>
          <p:cNvSpPr>
            <a:spLocks noGrp="1"/>
          </p:cNvSpPr>
          <p:nvPr/>
        </p:nvSpPr>
        <p:spPr>
          <a:xfrm>
            <a:off x="8115300" y="29146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ADMISSION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1806BD-9C92-4305-BF0A-956BD7536277}"/>
              </a:ext>
            </a:extLst>
          </p:cNvPr>
          <p:cNvSpPr>
            <a:spLocks noGrp="1"/>
          </p:cNvSpPr>
          <p:nvPr/>
        </p:nvSpPr>
        <p:spPr>
          <a:xfrm>
            <a:off x="7905750" y="352425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7F9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0F4D75-7B53-4F9B-9B98-4ACAA01E7271}"/>
              </a:ext>
            </a:extLst>
          </p:cNvPr>
          <p:cNvSpPr>
            <a:spLocks noGrp="1"/>
          </p:cNvSpPr>
          <p:nvPr/>
        </p:nvSpPr>
        <p:spPr>
          <a:xfrm>
            <a:off x="8115300" y="36385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TOURNAMENT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8B00F9-4E5A-49AB-991F-FF1E67E8FDC2}"/>
              </a:ext>
            </a:extLst>
          </p:cNvPr>
          <p:cNvSpPr>
            <a:spLocks noGrp="1"/>
          </p:cNvSpPr>
          <p:nvPr/>
        </p:nvSpPr>
        <p:spPr>
          <a:xfrm>
            <a:off x="7905750" y="4248150"/>
            <a:ext cx="2571750" cy="438150"/>
          </a:xfrm>
          <a:prstGeom prst="roundRect">
            <a:avLst>
              <a:gd name="adj" fmla="val 17391"/>
            </a:avLst>
          </a:prstGeom>
          <a:solidFill>
            <a:srgbClr val="F7F9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D3C923-DF41-4940-BB4C-7751E45E33FD}"/>
              </a:ext>
            </a:extLst>
          </p:cNvPr>
          <p:cNvSpPr>
            <a:spLocks noGrp="1"/>
          </p:cNvSpPr>
          <p:nvPr/>
        </p:nvSpPr>
        <p:spPr>
          <a:xfrm>
            <a:off x="8115300" y="43624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ACHIEVEMENT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0BF04-8A4A-41A4-A6EC-C63B5EE81CC5}"/>
              </a:ext>
            </a:extLst>
          </p:cNvPr>
          <p:cNvSpPr>
            <a:spLocks noGrp="1"/>
          </p:cNvSpPr>
          <p:nvPr/>
        </p:nvSpPr>
        <p:spPr>
          <a:xfrm>
            <a:off x="723900" y="8001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4B942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47B7B5-51D5-4F2E-8187-AB4281D47215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5905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Sports Academy Management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FAB647-4B41-4DAA-9711-2CACF9E13870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619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E8F0ED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E8F0ED"/>
                </a:solidFill>
                <a:latin typeface="Aptos"/>
                <a:ea typeface="Aptos"/>
                <a:cs typeface="Aptos"/>
              </a:rPr>
              <a:t>Oracle SQL and SQL*Plus based database system for managing players, coaches, sports, admissions, tournaments, achievements, and reports.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3AAB68-F742-4023-8D04-AD4259DCAF17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1581150" cy="5715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BF9B1C-493B-47EE-B86A-FD5A2317D227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5619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275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KINJALBA JADEJA                </a:t>
            </a:r>
            <a:r>
              <a:rPr lang="en-US" sz="12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92500527125</a:t>
            </a:r>
            <a:endParaRPr lang="en-US" sz="1275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2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DHARMIT DHRUVE             92500527136</a:t>
            </a:r>
          </a:p>
          <a:p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sz="1275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AAYUSHI PUJARA                92500527137</a:t>
            </a:r>
            <a:endParaRPr sz="1275" b="1" i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91709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60D66E4-F71F-42D0-BE40-03C50276E2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6BB71F-88FA-46C4-B1F9-DCD47A79C0C1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What the topic means and why it is useful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3ED7CD-F64E-416F-8A8E-798603320CED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4F20FC-2276-47B2-B2F5-77CA79F7E86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87D709-1FBB-4714-9308-0E88016AE429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05601A-7A2F-4240-8271-EB83CFD41C92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3238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12B27-68E1-48C6-A3AC-4C81CF9773D2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76200" cy="287655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0ADB8E-1DE2-419C-BFB1-9504036C81CB}"/>
              </a:ext>
            </a:extLst>
          </p:cNvPr>
          <p:cNvSpPr>
            <a:spLocks noGrp="1"/>
          </p:cNvSpPr>
          <p:nvPr/>
        </p:nvSpPr>
        <p:spPr>
          <a:xfrm>
            <a:off x="952500" y="182880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Topic Meaning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81ED7A-5CC2-48FA-B669-9D4869330C69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28384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 Sports Academy Management System is a database-driven application used to manage academy records in one organized place.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280BB3-2AD1-4826-BA07-4BB6F4B30B8B}"/>
              </a:ext>
            </a:extLst>
          </p:cNvPr>
          <p:cNvSpPr>
            <a:spLocks noGrp="1"/>
          </p:cNvSpPr>
          <p:nvPr/>
        </p:nvSpPr>
        <p:spPr>
          <a:xfrm>
            <a:off x="4476750" y="1657350"/>
            <a:ext cx="3238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FE181-5894-4340-BA56-528195107272}"/>
              </a:ext>
            </a:extLst>
          </p:cNvPr>
          <p:cNvSpPr>
            <a:spLocks noGrp="1"/>
          </p:cNvSpPr>
          <p:nvPr/>
        </p:nvSpPr>
        <p:spPr>
          <a:xfrm>
            <a:off x="4476750" y="1657350"/>
            <a:ext cx="76200" cy="2876550"/>
          </a:xfrm>
          <a:prstGeom prst="rect">
            <a:avLst/>
          </a:prstGeom>
          <a:solidFill>
            <a:srgbClr val="195B5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91E1AF-7861-48EE-A890-1BB5D61A316B}"/>
              </a:ext>
            </a:extLst>
          </p:cNvPr>
          <p:cNvSpPr>
            <a:spLocks noGrp="1"/>
          </p:cNvSpPr>
          <p:nvPr/>
        </p:nvSpPr>
        <p:spPr>
          <a:xfrm>
            <a:off x="4705350" y="182880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195B5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95B58"/>
                </a:solidFill>
                <a:latin typeface="Aptos"/>
                <a:ea typeface="Aptos"/>
                <a:cs typeface="Aptos"/>
              </a:rPr>
              <a:t>Need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396F9-F9A4-4D28-8076-860B092287EA}"/>
              </a:ext>
            </a:extLst>
          </p:cNvPr>
          <p:cNvSpPr>
            <a:spLocks noGrp="1"/>
          </p:cNvSpPr>
          <p:nvPr/>
        </p:nvSpPr>
        <p:spPr>
          <a:xfrm>
            <a:off x="4705350" y="2190750"/>
            <a:ext cx="28384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It reduces manual paperwork, improves data security and accuracy, and makes record retrieval faster.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1ABD0F-D265-4CDB-9F3D-9EA5B780A0DF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3238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9880DF-AF7D-49EB-BF61-2DD65052DC88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76200" cy="287655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1C767D-4D96-4B50-9903-67FE77702A13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2838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4B942"/>
                </a:solidFill>
                <a:latin typeface="Aptos"/>
                <a:ea typeface="Aptos"/>
                <a:cs typeface="Aptos"/>
              </a:rPr>
              <a:t>Project Idea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A94C77-6C0E-41DF-BFFC-693EA2FC3F3C}"/>
              </a:ext>
            </a:extLst>
          </p:cNvPr>
          <p:cNvSpPr>
            <a:spLocks noGrp="1"/>
          </p:cNvSpPr>
          <p:nvPr/>
        </p:nvSpPr>
        <p:spPr>
          <a:xfrm>
            <a:off x="8458200" y="2190750"/>
            <a:ext cx="28384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The project uses Oracle SQL*Plus to store data and provide menu-based operations for all important academy modules.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5F65DFE-BF40-45A1-A0D9-716CC42757A7}"/>
              </a:ext>
            </a:extLst>
          </p:cNvPr>
          <p:cNvSpPr>
            <a:spLocks noGrp="1"/>
          </p:cNvSpPr>
          <p:nvPr/>
        </p:nvSpPr>
        <p:spPr>
          <a:xfrm>
            <a:off x="1219200" y="509587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A21517-392E-403F-BF8D-8B765E0A892F}"/>
              </a:ext>
            </a:extLst>
          </p:cNvPr>
          <p:cNvSpPr>
            <a:spLocks noGrp="1"/>
          </p:cNvSpPr>
          <p:nvPr/>
        </p:nvSpPr>
        <p:spPr>
          <a:xfrm>
            <a:off x="1466850" y="5010150"/>
            <a:ext cx="870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Centralized database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64525E-F711-4C01-8B4C-66B8D004F3E6}"/>
              </a:ext>
            </a:extLst>
          </p:cNvPr>
          <p:cNvSpPr>
            <a:spLocks noGrp="1"/>
          </p:cNvSpPr>
          <p:nvPr/>
        </p:nvSpPr>
        <p:spPr>
          <a:xfrm>
            <a:off x="1219200" y="54197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8C2D53-421B-4F95-82F5-E2F34C7F9A14}"/>
              </a:ext>
            </a:extLst>
          </p:cNvPr>
          <p:cNvSpPr>
            <a:spLocks noGrp="1"/>
          </p:cNvSpPr>
          <p:nvPr/>
        </p:nvSpPr>
        <p:spPr>
          <a:xfrm>
            <a:off x="1466850" y="5334000"/>
            <a:ext cx="870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Easy searching and reporting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CA45C2-0A88-415E-BB3F-1E6B833DD716}"/>
              </a:ext>
            </a:extLst>
          </p:cNvPr>
          <p:cNvSpPr>
            <a:spLocks noGrp="1"/>
          </p:cNvSpPr>
          <p:nvPr/>
        </p:nvSpPr>
        <p:spPr>
          <a:xfrm>
            <a:off x="1219200" y="574357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30F4FE-A0F9-46A0-A9F9-864739AB9545}"/>
              </a:ext>
            </a:extLst>
          </p:cNvPr>
          <p:cNvSpPr>
            <a:spLocks noGrp="1"/>
          </p:cNvSpPr>
          <p:nvPr/>
        </p:nvSpPr>
        <p:spPr>
          <a:xfrm>
            <a:off x="1466850" y="5657850"/>
            <a:ext cx="870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Clear relationship between academy records</a:t>
            </a:r>
          </a:p>
        </p:txBody>
      </p:sp>
    </p:spTree>
    <p:extLst>
      <p:ext uri="{BB962C8B-B14F-4D97-AF65-F5344CB8AC3E}">
        <p14:creationId xmlns:p14="http://schemas.microsoft.com/office/powerpoint/2010/main" val="335524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8566E4F-A722-46FF-97D9-91302DB9339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FE448C-EF3D-48FB-8760-9ED54248F5DC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What the system is designed to achieve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FBFEEE-5130-4430-A6B6-5FF39A1DF002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AF86DF-2F8B-4825-8C74-A4DEFACDDCB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1E297-1CE8-4EB1-BF4E-6B49939591AF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99E940-0CC0-4D6D-9341-74E994718286}"/>
              </a:ext>
            </a:extLst>
          </p:cNvPr>
          <p:cNvSpPr>
            <a:spLocks noGrp="1"/>
          </p:cNvSpPr>
          <p:nvPr/>
        </p:nvSpPr>
        <p:spPr>
          <a:xfrm>
            <a:off x="1104900" y="17621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2E90EC-F30F-4288-BE85-88111003D8C5}"/>
              </a:ext>
            </a:extLst>
          </p:cNvPr>
          <p:cNvSpPr>
            <a:spLocks noGrp="1"/>
          </p:cNvSpPr>
          <p:nvPr/>
        </p:nvSpPr>
        <p:spPr>
          <a:xfrm>
            <a:off x="1352550" y="1676400"/>
            <a:ext cx="832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Manage player details and selected sports.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B6E0B9-B01B-4B49-A614-8B121C1DEE98}"/>
              </a:ext>
            </a:extLst>
          </p:cNvPr>
          <p:cNvSpPr>
            <a:spLocks noGrp="1"/>
          </p:cNvSpPr>
          <p:nvPr/>
        </p:nvSpPr>
        <p:spPr>
          <a:xfrm>
            <a:off x="1104900" y="235267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46016-6A61-4A75-9F62-E2DEFBF5E430}"/>
              </a:ext>
            </a:extLst>
          </p:cNvPr>
          <p:cNvSpPr>
            <a:spLocks noGrp="1"/>
          </p:cNvSpPr>
          <p:nvPr/>
        </p:nvSpPr>
        <p:spPr>
          <a:xfrm>
            <a:off x="1352550" y="2266950"/>
            <a:ext cx="832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Maintain coach information, experience, contact number, and salary.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2FF67E-14BB-4621-AB44-C20CF4B58825}"/>
              </a:ext>
            </a:extLst>
          </p:cNvPr>
          <p:cNvSpPr>
            <a:spLocks noGrp="1"/>
          </p:cNvSpPr>
          <p:nvPr/>
        </p:nvSpPr>
        <p:spPr>
          <a:xfrm>
            <a:off x="1104900" y="29432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EC7625-D27F-45EB-BBEA-7C1E3F8124E4}"/>
              </a:ext>
            </a:extLst>
          </p:cNvPr>
          <p:cNvSpPr>
            <a:spLocks noGrp="1"/>
          </p:cNvSpPr>
          <p:nvPr/>
        </p:nvSpPr>
        <p:spPr>
          <a:xfrm>
            <a:off x="1352550" y="2857500"/>
            <a:ext cx="832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Record admissions and registrations.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C6B60E-EE7F-4865-864D-4BB11EA39422}"/>
              </a:ext>
            </a:extLst>
          </p:cNvPr>
          <p:cNvSpPr>
            <a:spLocks noGrp="1"/>
          </p:cNvSpPr>
          <p:nvPr/>
        </p:nvSpPr>
        <p:spPr>
          <a:xfrm>
            <a:off x="1104900" y="353377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7E8AB1-F489-40AE-8AE6-DB9772B6C5AF}"/>
              </a:ext>
            </a:extLst>
          </p:cNvPr>
          <p:cNvSpPr>
            <a:spLocks noGrp="1"/>
          </p:cNvSpPr>
          <p:nvPr/>
        </p:nvSpPr>
        <p:spPr>
          <a:xfrm>
            <a:off x="1352550" y="3448050"/>
            <a:ext cx="832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Track sports, schedules, tournaments, and achievements.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9F10EC-483C-4AAF-BF6B-60C8D5EFFD84}"/>
              </a:ext>
            </a:extLst>
          </p:cNvPr>
          <p:cNvSpPr>
            <a:spLocks noGrp="1"/>
          </p:cNvSpPr>
          <p:nvPr/>
        </p:nvSpPr>
        <p:spPr>
          <a:xfrm>
            <a:off x="1104900" y="41243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01CCBA-A308-4A07-9ED7-46586D11A3F0}"/>
              </a:ext>
            </a:extLst>
          </p:cNvPr>
          <p:cNvSpPr>
            <a:spLocks noGrp="1"/>
          </p:cNvSpPr>
          <p:nvPr/>
        </p:nvSpPr>
        <p:spPr>
          <a:xfrm>
            <a:off x="1352550" y="4038600"/>
            <a:ext cx="8324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Generate reports and improve data security, speed, and accuracy.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C7D823-5E0E-4C39-90EF-3339460CC882}"/>
              </a:ext>
            </a:extLst>
          </p:cNvPr>
          <p:cNvSpPr>
            <a:spLocks noGrp="1"/>
          </p:cNvSpPr>
          <p:nvPr/>
        </p:nvSpPr>
        <p:spPr>
          <a:xfrm>
            <a:off x="7810500" y="4400550"/>
            <a:ext cx="2724150" cy="914400"/>
          </a:xfrm>
          <a:prstGeom prst="roundRect">
            <a:avLst>
              <a:gd name="adj" fmla="val 12500"/>
            </a:avLst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2E88FF-7D55-4DE7-B2E9-DAE8BCA0876E}"/>
              </a:ext>
            </a:extLst>
          </p:cNvPr>
          <p:cNvSpPr>
            <a:spLocks noGrp="1"/>
          </p:cNvSpPr>
          <p:nvPr/>
        </p:nvSpPr>
        <p:spPr>
          <a:xfrm>
            <a:off x="8068826" y="4400550"/>
            <a:ext cx="2218174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focus: organized and reliable academy record management</a:t>
            </a:r>
          </a:p>
        </p:txBody>
      </p:sp>
    </p:spTree>
    <p:extLst>
      <p:ext uri="{BB962C8B-B14F-4D97-AF65-F5344CB8AC3E}">
        <p14:creationId xmlns:p14="http://schemas.microsoft.com/office/powerpoint/2010/main" val="301841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AC2563-10BF-4DD2-85FE-C74DD2BF4CB5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Scope And Future Enhancements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0FA830-9672-4EF3-ABFF-C366859D04B8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Where the system can be used and how it can grow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C40B8D-A793-414B-B056-08DCF0EF2B69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FBECCB-754E-4934-8C91-E75851077FB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38FDD8-B346-489B-B318-13AF265A5649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7DB636-A431-4D9A-A79A-44E43CBD0D0A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4743450" cy="2590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14DE8-E730-4EB6-841B-DAA93407B6DC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76200" cy="259080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13DBAE-39E0-40F6-9352-37E915334878}"/>
              </a:ext>
            </a:extLst>
          </p:cNvPr>
          <p:cNvSpPr>
            <a:spLocks noGrp="1"/>
          </p:cNvSpPr>
          <p:nvPr/>
        </p:nvSpPr>
        <p:spPr>
          <a:xfrm>
            <a:off x="1143000" y="1847850"/>
            <a:ext cx="434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Current Scope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D2A9AE-D08D-410D-838A-B9109949AF36}"/>
              </a:ext>
            </a:extLst>
          </p:cNvPr>
          <p:cNvSpPr>
            <a:spLocks noGrp="1"/>
          </p:cNvSpPr>
          <p:nvPr/>
        </p:nvSpPr>
        <p:spPr>
          <a:xfrm>
            <a:off x="1143000" y="2209800"/>
            <a:ext cx="43434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Useful for sports academies, schools, colleges, training centers, and sports clubs that need structured record management.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0BF7BD-3B28-41A7-BAC3-A354163A70E1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4743450" cy="2590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25F3C8-D824-408F-BDCA-2404323F99B8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76200" cy="25908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DCB019-A49D-4B0B-80C4-FA85E84BD466}"/>
              </a:ext>
            </a:extLst>
          </p:cNvPr>
          <p:cNvSpPr>
            <a:spLocks noGrp="1"/>
          </p:cNvSpPr>
          <p:nvPr/>
        </p:nvSpPr>
        <p:spPr>
          <a:xfrm>
            <a:off x="6762750" y="1847850"/>
            <a:ext cx="434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4B942"/>
                </a:solidFill>
                <a:latin typeface="Aptos"/>
                <a:ea typeface="Aptos"/>
                <a:cs typeface="Aptos"/>
              </a:rPr>
              <a:t>Future Enhancements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39490C-0CE0-4E30-9681-A872BFEE85F7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43434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Online registration, mobile app integration, attendance management, fee payment gateway, and AI-based performance analysis.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E79BF8A-AF0D-4002-B4D1-3465FB14409E}"/>
              </a:ext>
            </a:extLst>
          </p:cNvPr>
          <p:cNvSpPr>
            <a:spLocks noGrp="1"/>
          </p:cNvSpPr>
          <p:nvPr/>
        </p:nvSpPr>
        <p:spPr>
          <a:xfrm>
            <a:off x="1390650" y="501967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E34DAD-7936-4202-9445-EB9077840087}"/>
              </a:ext>
            </a:extLst>
          </p:cNvPr>
          <p:cNvSpPr>
            <a:spLocks noGrp="1"/>
          </p:cNvSpPr>
          <p:nvPr/>
        </p:nvSpPr>
        <p:spPr>
          <a:xfrm>
            <a:off x="1638300" y="4933950"/>
            <a:ext cx="8705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The present project is database and SQL*Plus based.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16FE92-5D29-492A-86AF-149ABEFAD9F5}"/>
              </a:ext>
            </a:extLst>
          </p:cNvPr>
          <p:cNvSpPr>
            <a:spLocks noGrp="1"/>
          </p:cNvSpPr>
          <p:nvPr/>
        </p:nvSpPr>
        <p:spPr>
          <a:xfrm>
            <a:off x="1390650" y="54197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BF7D7E-10F4-44E9-B66E-CACC580E6F91}"/>
              </a:ext>
            </a:extLst>
          </p:cNvPr>
          <p:cNvSpPr>
            <a:spLocks noGrp="1"/>
          </p:cNvSpPr>
          <p:nvPr/>
        </p:nvSpPr>
        <p:spPr>
          <a:xfrm>
            <a:off x="1638300" y="5334000"/>
            <a:ext cx="8705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Future versions can add GUI, web, mobile, payment, and analytics features.</a:t>
            </a:r>
          </a:p>
        </p:txBody>
      </p:sp>
    </p:spTree>
    <p:extLst>
      <p:ext uri="{BB962C8B-B14F-4D97-AF65-F5344CB8AC3E}">
        <p14:creationId xmlns:p14="http://schemas.microsoft.com/office/powerpoint/2010/main" val="209269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C22A5C9-420E-4731-8535-859256FE313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Tools And Technologies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D7E5F-7995-4DE6-B8BA-55EC0F921822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Technology stack used in the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E1EC40-A372-42E0-B82A-8211CC802045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0077EE-6402-464E-A73C-2D83E1EAC02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0C10F8-F1CB-4B28-99FC-9FC78C312557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7FFF09-4B69-4C30-8C08-623BB5D10D82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3048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E1E193-4A01-43DB-84D1-2DE1F3DBC437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76200" cy="120015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FC0E59-BC55-4FFA-B692-2A39FEC8FD54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Oracle 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A52D5D-F997-40D0-AA7B-85E7BE1CAD06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2647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Stores all tables, constraints, and records.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BE01753-F1CE-4AD8-96D9-F1635643D95A}"/>
              </a:ext>
            </a:extLst>
          </p:cNvPr>
          <p:cNvSpPr>
            <a:spLocks noGrp="1"/>
          </p:cNvSpPr>
          <p:nvPr/>
        </p:nvSpPr>
        <p:spPr>
          <a:xfrm>
            <a:off x="4476750" y="1676400"/>
            <a:ext cx="3048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0E8D93-C0D6-4E74-9370-9F14BABD68D5}"/>
              </a:ext>
            </a:extLst>
          </p:cNvPr>
          <p:cNvSpPr>
            <a:spLocks noGrp="1"/>
          </p:cNvSpPr>
          <p:nvPr/>
        </p:nvSpPr>
        <p:spPr>
          <a:xfrm>
            <a:off x="4476750" y="1676400"/>
            <a:ext cx="76200" cy="120015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248396-FD86-4B29-9EC1-9FA41DB6AFDE}"/>
              </a:ext>
            </a:extLst>
          </p:cNvPr>
          <p:cNvSpPr>
            <a:spLocks noGrp="1"/>
          </p:cNvSpPr>
          <p:nvPr/>
        </p:nvSpPr>
        <p:spPr>
          <a:xfrm>
            <a:off x="4705350" y="18478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5124C9-CB39-4548-9F47-64E39321815A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2647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Creates schema, inserts records, and retrieves data.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D0E53B-5D83-48E5-BE92-975D3304FE48}"/>
              </a:ext>
            </a:extLst>
          </p:cNvPr>
          <p:cNvSpPr>
            <a:spLocks noGrp="1"/>
          </p:cNvSpPr>
          <p:nvPr/>
        </p:nvSpPr>
        <p:spPr>
          <a:xfrm>
            <a:off x="8115300" y="1676400"/>
            <a:ext cx="3048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E2830-E05C-48A1-A5BB-7A470C89D8DB}"/>
              </a:ext>
            </a:extLst>
          </p:cNvPr>
          <p:cNvSpPr>
            <a:spLocks noGrp="1"/>
          </p:cNvSpPr>
          <p:nvPr/>
        </p:nvSpPr>
        <p:spPr>
          <a:xfrm>
            <a:off x="8115300" y="1676400"/>
            <a:ext cx="76200" cy="120015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5D0C2D-F5CA-4DA7-8E08-BAA9C433BC25}"/>
              </a:ext>
            </a:extLst>
          </p:cNvPr>
          <p:cNvSpPr>
            <a:spLocks noGrp="1"/>
          </p:cNvSpPr>
          <p:nvPr/>
        </p:nvSpPr>
        <p:spPr>
          <a:xfrm>
            <a:off x="8343900" y="18478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PL/SQL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A8F9A7-C667-433A-9E8C-BDB98B8BBC6B}"/>
              </a:ext>
            </a:extLst>
          </p:cNvPr>
          <p:cNvSpPr>
            <a:spLocks noGrp="1"/>
          </p:cNvSpPr>
          <p:nvPr/>
        </p:nvSpPr>
        <p:spPr>
          <a:xfrm>
            <a:off x="8343900" y="2209800"/>
            <a:ext cx="2647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Supports procedural logic and menu decisions.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111B8EC-2CAC-4AA4-B065-3AF6CB5BA4DF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3048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4948E9-4710-4851-8E94-13C1151A56A1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76200" cy="120015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764D70-1A82-48A2-9916-F395EB25A01A}"/>
              </a:ext>
            </a:extLst>
          </p:cNvPr>
          <p:cNvSpPr>
            <a:spLocks noGrp="1"/>
          </p:cNvSpPr>
          <p:nvPr/>
        </p:nvSpPr>
        <p:spPr>
          <a:xfrm>
            <a:off x="1066800" y="36004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SQL*Plus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F29AED-67D5-445E-8906-343C488AD62B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2647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Runs scripts and accepts user choices.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27778DF-5AF9-4A0B-9632-DA2853F1435C}"/>
              </a:ext>
            </a:extLst>
          </p:cNvPr>
          <p:cNvSpPr>
            <a:spLocks noGrp="1"/>
          </p:cNvSpPr>
          <p:nvPr/>
        </p:nvSpPr>
        <p:spPr>
          <a:xfrm>
            <a:off x="4476750" y="3429000"/>
            <a:ext cx="30480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E44E24-8A4B-432A-A698-BFBBF5F2B223}"/>
              </a:ext>
            </a:extLst>
          </p:cNvPr>
          <p:cNvSpPr>
            <a:spLocks noGrp="1"/>
          </p:cNvSpPr>
          <p:nvPr/>
        </p:nvSpPr>
        <p:spPr>
          <a:xfrm>
            <a:off x="4476750" y="3429000"/>
            <a:ext cx="76200" cy="120015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192461-E44A-402A-81BD-201D60951ABF}"/>
              </a:ext>
            </a:extLst>
          </p:cNvPr>
          <p:cNvSpPr>
            <a:spLocks noGrp="1"/>
          </p:cNvSpPr>
          <p:nvPr/>
        </p:nvSpPr>
        <p:spPr>
          <a:xfrm>
            <a:off x="4705350" y="36004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4B942"/>
                </a:solidFill>
                <a:latin typeface="Aptos"/>
                <a:ea typeface="Aptos"/>
                <a:cs typeface="Aptos"/>
              </a:rPr>
              <a:t>Script Files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1455E8-C4A2-47D2-A5AC-634793129469}"/>
              </a:ext>
            </a:extLst>
          </p:cNvPr>
          <p:cNvSpPr>
            <a:spLocks noGrp="1"/>
          </p:cNvSpPr>
          <p:nvPr/>
        </p:nvSpPr>
        <p:spPr>
          <a:xfrm>
            <a:off x="4705350" y="3962400"/>
            <a:ext cx="26479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Separate setup, data, menu, action, and report files.</a:t>
            </a:r>
          </a:p>
        </p:txBody>
      </p:sp>
    </p:spTree>
    <p:extLst>
      <p:ext uri="{BB962C8B-B14F-4D97-AF65-F5344CB8AC3E}">
        <p14:creationId xmlns:p14="http://schemas.microsoft.com/office/powerpoint/2010/main" val="2059910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38EBAD34-4D78-4222-AC2E-AC7859946D9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Module 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F92FF0-EA97-4EBB-9846-26E26ABBB7C2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Main functional modules in the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630F51-9946-49E9-B0F0-C6F36209783C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38E923-BCDD-4913-84D5-A111BB1858E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38843-863C-4802-BFB5-324EF54814F8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9562CE-FC6A-4297-8AD3-FA1D802AE1DB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23336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F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03CD6-7F76-4B06-87AF-2DEB40D9D2AE}"/>
              </a:ext>
            </a:extLst>
          </p:cNvPr>
          <p:cNvSpPr>
            <a:spLocks noGrp="1"/>
          </p:cNvSpPr>
          <p:nvPr/>
        </p:nvSpPr>
        <p:spPr>
          <a:xfrm>
            <a:off x="990600" y="1885950"/>
            <a:ext cx="438150" cy="43815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0BCE38-386F-4B8C-963C-6C2F2376D53A}"/>
              </a:ext>
            </a:extLst>
          </p:cNvPr>
          <p:cNvSpPr>
            <a:spLocks noGrp="1"/>
          </p:cNvSpPr>
          <p:nvPr/>
        </p:nvSpPr>
        <p:spPr>
          <a:xfrm>
            <a:off x="1133475" y="19907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462322-FAE6-4063-A1BC-8FA10CC67FBB}"/>
              </a:ext>
            </a:extLst>
          </p:cNvPr>
          <p:cNvSpPr>
            <a:spLocks noGrp="1"/>
          </p:cNvSpPr>
          <p:nvPr/>
        </p:nvSpPr>
        <p:spPr>
          <a:xfrm>
            <a:off x="1562100" y="18669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1C323B-29D4-4EA0-A9C1-0B77D77A4C11}"/>
              </a:ext>
            </a:extLst>
          </p:cNvPr>
          <p:cNvSpPr>
            <a:spLocks noGrp="1"/>
          </p:cNvSpPr>
          <p:nvPr/>
        </p:nvSpPr>
        <p:spPr>
          <a:xfrm>
            <a:off x="1562100" y="2190750"/>
            <a:ext cx="1381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Add, update, delete, search, display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2C28EF-63EC-4584-8373-AE832214B94E}"/>
              </a:ext>
            </a:extLst>
          </p:cNvPr>
          <p:cNvSpPr>
            <a:spLocks noGrp="1"/>
          </p:cNvSpPr>
          <p:nvPr/>
        </p:nvSpPr>
        <p:spPr>
          <a:xfrm>
            <a:off x="3543300" y="1657350"/>
            <a:ext cx="23336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F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3EB9F18-A4CB-4C2B-9743-2409103E6067}"/>
              </a:ext>
            </a:extLst>
          </p:cNvPr>
          <p:cNvSpPr>
            <a:spLocks noGrp="1"/>
          </p:cNvSpPr>
          <p:nvPr/>
        </p:nvSpPr>
        <p:spPr>
          <a:xfrm>
            <a:off x="3714750" y="1885950"/>
            <a:ext cx="438150" cy="43815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D413DE-6793-4CD6-87C4-DF1DF7195FD1}"/>
              </a:ext>
            </a:extLst>
          </p:cNvPr>
          <p:cNvSpPr>
            <a:spLocks noGrp="1"/>
          </p:cNvSpPr>
          <p:nvPr/>
        </p:nvSpPr>
        <p:spPr>
          <a:xfrm>
            <a:off x="3857625" y="19907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0F632-069A-4746-8671-B87EADC7F8FE}"/>
              </a:ext>
            </a:extLst>
          </p:cNvPr>
          <p:cNvSpPr>
            <a:spLocks noGrp="1"/>
          </p:cNvSpPr>
          <p:nvPr/>
        </p:nvSpPr>
        <p:spPr>
          <a:xfrm>
            <a:off x="4286250" y="18669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Coach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0FBD0-75B7-4878-A172-3DB1ECF02E55}"/>
              </a:ext>
            </a:extLst>
          </p:cNvPr>
          <p:cNvSpPr>
            <a:spLocks noGrp="1"/>
          </p:cNvSpPr>
          <p:nvPr/>
        </p:nvSpPr>
        <p:spPr>
          <a:xfrm>
            <a:off x="4286250" y="2190750"/>
            <a:ext cx="1381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Add, modify, delete, view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CB322F-8DDF-4252-90A7-6914680276A7}"/>
              </a:ext>
            </a:extLst>
          </p:cNvPr>
          <p:cNvSpPr>
            <a:spLocks noGrp="1"/>
          </p:cNvSpPr>
          <p:nvPr/>
        </p:nvSpPr>
        <p:spPr>
          <a:xfrm>
            <a:off x="6267450" y="1657350"/>
            <a:ext cx="23336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F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83A79B-9E2A-4CF1-9AA6-63D022F6A9A8}"/>
              </a:ext>
            </a:extLst>
          </p:cNvPr>
          <p:cNvSpPr>
            <a:spLocks noGrp="1"/>
          </p:cNvSpPr>
          <p:nvPr/>
        </p:nvSpPr>
        <p:spPr>
          <a:xfrm>
            <a:off x="6438900" y="1885950"/>
            <a:ext cx="438150" cy="43815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484DE9-5D1F-411F-9CD4-5BA00B6825F7}"/>
              </a:ext>
            </a:extLst>
          </p:cNvPr>
          <p:cNvSpPr>
            <a:spLocks noGrp="1"/>
          </p:cNvSpPr>
          <p:nvPr/>
        </p:nvSpPr>
        <p:spPr>
          <a:xfrm>
            <a:off x="6581775" y="19907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61F827-B738-4196-9B66-E158346BC275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Sport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6B793E-8B46-4B07-83EB-9BDD01BDF23E}"/>
              </a:ext>
            </a:extLst>
          </p:cNvPr>
          <p:cNvSpPr>
            <a:spLocks noGrp="1"/>
          </p:cNvSpPr>
          <p:nvPr/>
        </p:nvSpPr>
        <p:spPr>
          <a:xfrm>
            <a:off x="7010400" y="2190750"/>
            <a:ext cx="1381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Add, update, delete, view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0FA6CC7-95CF-483D-AE99-F3ED84660A36}"/>
              </a:ext>
            </a:extLst>
          </p:cNvPr>
          <p:cNvSpPr>
            <a:spLocks noGrp="1"/>
          </p:cNvSpPr>
          <p:nvPr/>
        </p:nvSpPr>
        <p:spPr>
          <a:xfrm>
            <a:off x="8991600" y="1657350"/>
            <a:ext cx="23336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F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D9075D4-9019-4051-A7A5-AE987DBCC75A}"/>
              </a:ext>
            </a:extLst>
          </p:cNvPr>
          <p:cNvSpPr>
            <a:spLocks noGrp="1"/>
          </p:cNvSpPr>
          <p:nvPr/>
        </p:nvSpPr>
        <p:spPr>
          <a:xfrm>
            <a:off x="9163050" y="1885950"/>
            <a:ext cx="438150" cy="43815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8B314C-9B06-4B57-85E0-AFD009ABD6BF}"/>
              </a:ext>
            </a:extLst>
          </p:cNvPr>
          <p:cNvSpPr>
            <a:spLocks noGrp="1"/>
          </p:cNvSpPr>
          <p:nvPr/>
        </p:nvSpPr>
        <p:spPr>
          <a:xfrm>
            <a:off x="9305925" y="19907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10222F-A552-4B5C-A9F2-A092205983A5}"/>
              </a:ext>
            </a:extLst>
          </p:cNvPr>
          <p:cNvSpPr>
            <a:spLocks noGrp="1"/>
          </p:cNvSpPr>
          <p:nvPr/>
        </p:nvSpPr>
        <p:spPr>
          <a:xfrm>
            <a:off x="9734550" y="18669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Admission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8E3C3-1B5A-4850-B880-9D1885050C3A}"/>
              </a:ext>
            </a:extLst>
          </p:cNvPr>
          <p:cNvSpPr>
            <a:spLocks noGrp="1"/>
          </p:cNvSpPr>
          <p:nvPr/>
        </p:nvSpPr>
        <p:spPr>
          <a:xfrm>
            <a:off x="9734550" y="2190750"/>
            <a:ext cx="1381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New, update, cancel, display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AF3B653-4A06-44AE-951B-59B02E1AEF65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23336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F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EBA89E-A3FA-4289-B0FC-63A25F828232}"/>
              </a:ext>
            </a:extLst>
          </p:cNvPr>
          <p:cNvSpPr>
            <a:spLocks noGrp="1"/>
          </p:cNvSpPr>
          <p:nvPr/>
        </p:nvSpPr>
        <p:spPr>
          <a:xfrm>
            <a:off x="990600" y="3448050"/>
            <a:ext cx="438150" cy="43815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FFCD63-A75E-4616-88B7-734D14FDCC72}"/>
              </a:ext>
            </a:extLst>
          </p:cNvPr>
          <p:cNvSpPr>
            <a:spLocks noGrp="1"/>
          </p:cNvSpPr>
          <p:nvPr/>
        </p:nvSpPr>
        <p:spPr>
          <a:xfrm>
            <a:off x="1133475" y="35528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82D857-192B-4C6D-8FDA-CE9B85C0913A}"/>
              </a:ext>
            </a:extLst>
          </p:cNvPr>
          <p:cNvSpPr>
            <a:spLocks noGrp="1"/>
          </p:cNvSpPr>
          <p:nvPr/>
        </p:nvSpPr>
        <p:spPr>
          <a:xfrm>
            <a:off x="1562100" y="34290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Tournament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492C5E-174E-4F9B-B2D4-0934C1C8D8F3}"/>
              </a:ext>
            </a:extLst>
          </p:cNvPr>
          <p:cNvSpPr>
            <a:spLocks noGrp="1"/>
          </p:cNvSpPr>
          <p:nvPr/>
        </p:nvSpPr>
        <p:spPr>
          <a:xfrm>
            <a:off x="1562100" y="3752850"/>
            <a:ext cx="1381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Add, update, delete, view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17705C0-9227-4101-B600-94D4639DC59B}"/>
              </a:ext>
            </a:extLst>
          </p:cNvPr>
          <p:cNvSpPr>
            <a:spLocks noGrp="1"/>
          </p:cNvSpPr>
          <p:nvPr/>
        </p:nvSpPr>
        <p:spPr>
          <a:xfrm>
            <a:off x="3543300" y="3219450"/>
            <a:ext cx="2486025" cy="9525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F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310B4A8-84D3-42C7-9220-C3FC19D0DD43}"/>
              </a:ext>
            </a:extLst>
          </p:cNvPr>
          <p:cNvSpPr>
            <a:spLocks noGrp="1"/>
          </p:cNvSpPr>
          <p:nvPr/>
        </p:nvSpPr>
        <p:spPr>
          <a:xfrm>
            <a:off x="3714750" y="3448050"/>
            <a:ext cx="438150" cy="43815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9AD2DA-EE7E-4DD6-A17D-5E8624D3A15A}"/>
              </a:ext>
            </a:extLst>
          </p:cNvPr>
          <p:cNvSpPr>
            <a:spLocks noGrp="1"/>
          </p:cNvSpPr>
          <p:nvPr/>
        </p:nvSpPr>
        <p:spPr>
          <a:xfrm>
            <a:off x="3857625" y="35528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8576E5-599D-4852-9995-8CF3788D2E3B}"/>
              </a:ext>
            </a:extLst>
          </p:cNvPr>
          <p:cNvSpPr>
            <a:spLocks noGrp="1"/>
          </p:cNvSpPr>
          <p:nvPr/>
        </p:nvSpPr>
        <p:spPr>
          <a:xfrm>
            <a:off x="4286249" y="3428999"/>
            <a:ext cx="2981325" cy="7048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 dirty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Achievement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586731-E889-4860-8959-B4423E394034}"/>
              </a:ext>
            </a:extLst>
          </p:cNvPr>
          <p:cNvSpPr>
            <a:spLocks noGrp="1"/>
          </p:cNvSpPr>
          <p:nvPr/>
        </p:nvSpPr>
        <p:spPr>
          <a:xfrm>
            <a:off x="4286250" y="3752850"/>
            <a:ext cx="1381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 dirty="0">
                <a:solidFill>
                  <a:srgbClr val="60706D"/>
                </a:solidFill>
                <a:latin typeface="Aptos"/>
                <a:ea typeface="Aptos"/>
                <a:cs typeface="Aptos"/>
              </a:rPr>
              <a:t>Record, update, display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7082DD5-2F8A-4F01-8248-5F4761BA19DF}"/>
              </a:ext>
            </a:extLst>
          </p:cNvPr>
          <p:cNvSpPr>
            <a:spLocks noGrp="1"/>
          </p:cNvSpPr>
          <p:nvPr/>
        </p:nvSpPr>
        <p:spPr>
          <a:xfrm>
            <a:off x="6267450" y="3219450"/>
            <a:ext cx="2333625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CFDA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FDAB811-1556-4762-B5DB-9A89181EB71D}"/>
              </a:ext>
            </a:extLst>
          </p:cNvPr>
          <p:cNvSpPr>
            <a:spLocks noGrp="1"/>
          </p:cNvSpPr>
          <p:nvPr/>
        </p:nvSpPr>
        <p:spPr>
          <a:xfrm>
            <a:off x="6438900" y="3448050"/>
            <a:ext cx="438150" cy="4381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8676DA-45CB-495D-B66D-A31E27EB0740}"/>
              </a:ext>
            </a:extLst>
          </p:cNvPr>
          <p:cNvSpPr>
            <a:spLocks noGrp="1"/>
          </p:cNvSpPr>
          <p:nvPr/>
        </p:nvSpPr>
        <p:spPr>
          <a:xfrm>
            <a:off x="6581775" y="3552825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EAEF90A-7648-4BCF-B5EA-F53D2A3CE681}"/>
              </a:ext>
            </a:extLst>
          </p:cNvPr>
          <p:cNvSpPr>
            <a:spLocks noGrp="1"/>
          </p:cNvSpPr>
          <p:nvPr/>
        </p:nvSpPr>
        <p:spPr>
          <a:xfrm>
            <a:off x="7010400" y="3429000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56F8C0-FB9E-41E7-B6C7-B01D17A4FF98}"/>
              </a:ext>
            </a:extLst>
          </p:cNvPr>
          <p:cNvSpPr>
            <a:spLocks noGrp="1"/>
          </p:cNvSpPr>
          <p:nvPr/>
        </p:nvSpPr>
        <p:spPr>
          <a:xfrm>
            <a:off x="7010400" y="3752850"/>
            <a:ext cx="1381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Generate query outputs</a:t>
            </a:r>
          </a:p>
        </p:txBody>
      </p:sp>
    </p:spTree>
    <p:extLst>
      <p:ext uri="{BB962C8B-B14F-4D97-AF65-F5344CB8AC3E}">
        <p14:creationId xmlns:p14="http://schemas.microsoft.com/office/powerpoint/2010/main" val="74284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5B79691-6AA5-4AAC-8D1E-4AE05465857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GUI Design Screens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936EE1-81C8-4D7E-BA7D-40A069422880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Screens described in the reference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3EEBA2-560F-4642-936E-E37D31087B97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71CAEF-0557-4EBD-8991-61CBDA62F26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940FCA-E210-4D70-9CAD-0A213D0905E5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AC03F0-7BBC-4828-B336-E2EE5841B424}"/>
              </a:ext>
            </a:extLst>
          </p:cNvPr>
          <p:cNvSpPr>
            <a:spLocks noGrp="1"/>
          </p:cNvSpPr>
          <p:nvPr/>
        </p:nvSpPr>
        <p:spPr>
          <a:xfrm>
            <a:off x="819150" y="1524000"/>
            <a:ext cx="10096500" cy="32004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C9D5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D3CE96-0AC0-4472-9C2F-FD2DB7A195B3}"/>
              </a:ext>
            </a:extLst>
          </p:cNvPr>
          <p:cNvSpPr>
            <a:spLocks noGrp="1"/>
          </p:cNvSpPr>
          <p:nvPr/>
        </p:nvSpPr>
        <p:spPr>
          <a:xfrm>
            <a:off x="819150" y="1524000"/>
            <a:ext cx="10096500" cy="53340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EC67A-5101-4B67-B859-10EF3DF1C73E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Screen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54F90A-B8C6-4E63-857C-992C097DF39F}"/>
              </a:ext>
            </a:extLst>
          </p:cNvPr>
          <p:cNvSpPr>
            <a:spLocks noGrp="1"/>
          </p:cNvSpPr>
          <p:nvPr/>
        </p:nvSpPr>
        <p:spPr>
          <a:xfrm>
            <a:off x="2914650" y="1619250"/>
            <a:ext cx="281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6D639-3D23-49B8-934A-1BBC3E8A8964}"/>
              </a:ext>
            </a:extLst>
          </p:cNvPr>
          <p:cNvSpPr>
            <a:spLocks noGrp="1"/>
          </p:cNvSpPr>
          <p:nvPr/>
        </p:nvSpPr>
        <p:spPr>
          <a:xfrm>
            <a:off x="5867400" y="1619250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Components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7886F9-188E-41A4-95D4-6582FB95FFC4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BCB7C-6F9E-4412-AA23-6D8F57D2BF27}"/>
              </a:ext>
            </a:extLst>
          </p:cNvPr>
          <p:cNvSpPr>
            <a:spLocks noGrp="1"/>
          </p:cNvSpPr>
          <p:nvPr/>
        </p:nvSpPr>
        <p:spPr>
          <a:xfrm>
            <a:off x="2914650" y="2133600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Authenticate admin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5E753-BF5F-4C20-9259-415E5ABD54C6}"/>
              </a:ext>
            </a:extLst>
          </p:cNvPr>
          <p:cNvSpPr>
            <a:spLocks noGrp="1"/>
          </p:cNvSpPr>
          <p:nvPr/>
        </p:nvSpPr>
        <p:spPr>
          <a:xfrm>
            <a:off x="5867400" y="21336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Username, password, login, reset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1A30A7-730D-46A1-AF7A-69D644EE40C1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10096500" cy="53340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40BEC7-5260-4A33-B5A4-915A2AC6A7B3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9FFA1C-3D6B-4E24-B359-5499A8D5AA3E}"/>
              </a:ext>
            </a:extLst>
          </p:cNvPr>
          <p:cNvSpPr>
            <a:spLocks noGrp="1"/>
          </p:cNvSpPr>
          <p:nvPr/>
        </p:nvSpPr>
        <p:spPr>
          <a:xfrm>
            <a:off x="2914650" y="2667000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Navigate modules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8DE646-D4FA-443C-97F0-E56CD3841455}"/>
              </a:ext>
            </a:extLst>
          </p:cNvPr>
          <p:cNvSpPr>
            <a:spLocks noGrp="1"/>
          </p:cNvSpPr>
          <p:nvPr/>
        </p:nvSpPr>
        <p:spPr>
          <a:xfrm>
            <a:off x="5867400" y="26670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Player, coach, sport, admission, tournament, reports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F73127-57DD-44AC-8E52-9C8FEBC427FC}"/>
              </a:ext>
            </a:extLst>
          </p:cNvPr>
          <p:cNvSpPr>
            <a:spLocks noGrp="1"/>
          </p:cNvSpPr>
          <p:nvPr/>
        </p:nvSpPr>
        <p:spPr>
          <a:xfrm>
            <a:off x="914400" y="32004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Module Forms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0521CA-B962-4397-AD74-A90F742A274A}"/>
              </a:ext>
            </a:extLst>
          </p:cNvPr>
          <p:cNvSpPr>
            <a:spLocks noGrp="1"/>
          </p:cNvSpPr>
          <p:nvPr/>
        </p:nvSpPr>
        <p:spPr>
          <a:xfrm>
            <a:off x="2914650" y="3200400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Manage records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0FE11C-93D7-41E9-A381-83144045D238}"/>
              </a:ext>
            </a:extLst>
          </p:cNvPr>
          <p:cNvSpPr>
            <a:spLocks noGrp="1"/>
          </p:cNvSpPr>
          <p:nvPr/>
        </p:nvSpPr>
        <p:spPr>
          <a:xfrm>
            <a:off x="5867400" y="32004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ID fields, text boxes, add, update, delete, search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AA21FC-5289-436B-8623-3141440595F7}"/>
              </a:ext>
            </a:extLst>
          </p:cNvPr>
          <p:cNvSpPr>
            <a:spLocks noGrp="1"/>
          </p:cNvSpPr>
          <p:nvPr/>
        </p:nvSpPr>
        <p:spPr>
          <a:xfrm>
            <a:off x="819150" y="3657600"/>
            <a:ext cx="10096500" cy="53340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F2724C-2A6D-4A52-B641-A31A353D0591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4D8345-E8F5-48C3-AD1E-B93B1D3AFC3A}"/>
              </a:ext>
            </a:extLst>
          </p:cNvPr>
          <p:cNvSpPr>
            <a:spLocks noGrp="1"/>
          </p:cNvSpPr>
          <p:nvPr/>
        </p:nvSpPr>
        <p:spPr>
          <a:xfrm>
            <a:off x="2914650" y="3733800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Display results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6979A8-A93A-4052-8345-6AE3C9D13BDA}"/>
              </a:ext>
            </a:extLst>
          </p:cNvPr>
          <p:cNvSpPr>
            <a:spLocks noGrp="1"/>
          </p:cNvSpPr>
          <p:nvPr/>
        </p:nvSpPr>
        <p:spPr>
          <a:xfrm>
            <a:off x="5867400" y="37338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Tabular report, record count, summary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5B7496-F4E5-4CA8-BE23-AF3881ED4DFA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186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4AFA0F-E30C-4230-BAB9-21EA8214E8E4}"/>
              </a:ext>
            </a:extLst>
          </p:cNvPr>
          <p:cNvSpPr>
            <a:spLocks noGrp="1"/>
          </p:cNvSpPr>
          <p:nvPr/>
        </p:nvSpPr>
        <p:spPr>
          <a:xfrm>
            <a:off x="2914650" y="4267200"/>
            <a:ext cx="2819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Close system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C3762B-1197-4409-A098-98360C00385E}"/>
              </a:ext>
            </a:extLst>
          </p:cNvPr>
          <p:cNvSpPr>
            <a:spLocks noGrp="1"/>
          </p:cNvSpPr>
          <p:nvPr/>
        </p:nvSpPr>
        <p:spPr>
          <a:xfrm>
            <a:off x="5867400" y="4267200"/>
            <a:ext cx="5010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Logout message, confirmation</a:t>
            </a:r>
          </a:p>
        </p:txBody>
      </p:sp>
    </p:spTree>
    <p:extLst>
      <p:ext uri="{BB962C8B-B14F-4D97-AF65-F5344CB8AC3E}">
        <p14:creationId xmlns:p14="http://schemas.microsoft.com/office/powerpoint/2010/main" val="163150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6EF5D96-D8BA-4F3E-857B-E1E6232DFDF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Database Design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A92CA6-8125-40A9-BA9E-B2E210B874A2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Six tables form the core database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7E8C29-44E7-4D0F-B017-0C9075EF6CEC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552EF2-A08B-4916-BB4A-9F6F3AF6E4E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07EBD6-ABFD-4260-8028-2DA63C0D9864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1569CC-2E1D-4F81-9C3F-0DF376669E5C}"/>
              </a:ext>
            </a:extLst>
          </p:cNvPr>
          <p:cNvSpPr>
            <a:spLocks noGrp="1"/>
          </p:cNvSpPr>
          <p:nvPr/>
        </p:nvSpPr>
        <p:spPr>
          <a:xfrm>
            <a:off x="914400" y="1562100"/>
            <a:ext cx="10001250" cy="34671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9525">
            <a:solidFill>
              <a:srgbClr val="C9D5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9390AE-C1B1-4E5F-9103-6524E6F6D736}"/>
              </a:ext>
            </a:extLst>
          </p:cNvPr>
          <p:cNvSpPr>
            <a:spLocks noGrp="1"/>
          </p:cNvSpPr>
          <p:nvPr/>
        </p:nvSpPr>
        <p:spPr>
          <a:xfrm>
            <a:off x="914400" y="1562100"/>
            <a:ext cx="10001250" cy="49530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A08B5D-DF81-43B3-8486-B4FD7B831091}"/>
              </a:ext>
            </a:extLst>
          </p:cNvPr>
          <p:cNvSpPr>
            <a:spLocks noGrp="1"/>
          </p:cNvSpPr>
          <p:nvPr/>
        </p:nvSpPr>
        <p:spPr>
          <a:xfrm>
            <a:off x="1009650" y="1657350"/>
            <a:ext cx="1962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A35F29-21EC-4E64-94AB-E9798833D264}"/>
              </a:ext>
            </a:extLst>
          </p:cNvPr>
          <p:cNvSpPr>
            <a:spLocks noGrp="1"/>
          </p:cNvSpPr>
          <p:nvPr/>
        </p:nvSpPr>
        <p:spPr>
          <a:xfrm>
            <a:off x="3105150" y="1657350"/>
            <a:ext cx="1962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Primary Key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EB38E9-85CC-47B7-BE77-9AA09676A745}"/>
              </a:ext>
            </a:extLst>
          </p:cNvPr>
          <p:cNvSpPr>
            <a:spLocks noGrp="1"/>
          </p:cNvSpPr>
          <p:nvPr/>
        </p:nvSpPr>
        <p:spPr>
          <a:xfrm>
            <a:off x="5200650" y="1657350"/>
            <a:ext cx="567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B64987-2728-49F4-8B24-22745A13A94C}"/>
              </a:ext>
            </a:extLst>
          </p:cNvPr>
          <p:cNvSpPr>
            <a:spLocks noGrp="1"/>
          </p:cNvSpPr>
          <p:nvPr/>
        </p:nvSpPr>
        <p:spPr>
          <a:xfrm>
            <a:off x="1009650" y="21336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6C0CBB-3043-4F32-B7CF-8BF5780218E0}"/>
              </a:ext>
            </a:extLst>
          </p:cNvPr>
          <p:cNvSpPr>
            <a:spLocks noGrp="1"/>
          </p:cNvSpPr>
          <p:nvPr/>
        </p:nvSpPr>
        <p:spPr>
          <a:xfrm>
            <a:off x="3105150" y="21336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SPORT_ID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BA4B75-D089-4D7F-8BE8-7E7B7C85421D}"/>
              </a:ext>
            </a:extLst>
          </p:cNvPr>
          <p:cNvSpPr>
            <a:spLocks noGrp="1"/>
          </p:cNvSpPr>
          <p:nvPr/>
        </p:nvSpPr>
        <p:spPr>
          <a:xfrm>
            <a:off x="5200650" y="2133600"/>
            <a:ext cx="567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Stores sport name, fees, and schedule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8902F6-0560-4454-8065-4CA84753FCBB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10001250" cy="49530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1700A6-726F-4616-8E38-3317B16FD443}"/>
              </a:ext>
            </a:extLst>
          </p:cNvPr>
          <p:cNvSpPr>
            <a:spLocks noGrp="1"/>
          </p:cNvSpPr>
          <p:nvPr/>
        </p:nvSpPr>
        <p:spPr>
          <a:xfrm>
            <a:off x="1009650" y="26289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58DFB6-C53D-4717-97A6-5E17CAA0B28A}"/>
              </a:ext>
            </a:extLst>
          </p:cNvPr>
          <p:cNvSpPr>
            <a:spLocks noGrp="1"/>
          </p:cNvSpPr>
          <p:nvPr/>
        </p:nvSpPr>
        <p:spPr>
          <a:xfrm>
            <a:off x="3105150" y="26289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PLAYER_ID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68F04E-4088-40D6-B2FA-F30074B1CD9E}"/>
              </a:ext>
            </a:extLst>
          </p:cNvPr>
          <p:cNvSpPr>
            <a:spLocks noGrp="1"/>
          </p:cNvSpPr>
          <p:nvPr/>
        </p:nvSpPr>
        <p:spPr>
          <a:xfrm>
            <a:off x="5200650" y="2628900"/>
            <a:ext cx="567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Stores player information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747F4A-E48C-4A52-A59D-B7FC2FD7D97E}"/>
              </a:ext>
            </a:extLst>
          </p:cNvPr>
          <p:cNvSpPr>
            <a:spLocks noGrp="1"/>
          </p:cNvSpPr>
          <p:nvPr/>
        </p:nvSpPr>
        <p:spPr>
          <a:xfrm>
            <a:off x="1009650" y="31242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COACH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98342D-7212-4F1F-9C62-A9B259458F7E}"/>
              </a:ext>
            </a:extLst>
          </p:cNvPr>
          <p:cNvSpPr>
            <a:spLocks noGrp="1"/>
          </p:cNvSpPr>
          <p:nvPr/>
        </p:nvSpPr>
        <p:spPr>
          <a:xfrm>
            <a:off x="3105150" y="31242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COACH_ID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354A18-8446-42BA-9226-6E9BE5823887}"/>
              </a:ext>
            </a:extLst>
          </p:cNvPr>
          <p:cNvSpPr>
            <a:spLocks noGrp="1"/>
          </p:cNvSpPr>
          <p:nvPr/>
        </p:nvSpPr>
        <p:spPr>
          <a:xfrm>
            <a:off x="5200650" y="3124200"/>
            <a:ext cx="567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Stores coach profile and salary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A78720-197C-412E-A072-B9915B02B286}"/>
              </a:ext>
            </a:extLst>
          </p:cNvPr>
          <p:cNvSpPr>
            <a:spLocks noGrp="1"/>
          </p:cNvSpPr>
          <p:nvPr/>
        </p:nvSpPr>
        <p:spPr>
          <a:xfrm>
            <a:off x="914400" y="3543300"/>
            <a:ext cx="10001250" cy="49530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197E3E-CEC1-459D-91AA-AC3BFF0E5B2A}"/>
              </a:ext>
            </a:extLst>
          </p:cNvPr>
          <p:cNvSpPr>
            <a:spLocks noGrp="1"/>
          </p:cNvSpPr>
          <p:nvPr/>
        </p:nvSpPr>
        <p:spPr>
          <a:xfrm>
            <a:off x="1009650" y="36195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ADMISSION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E06F15-4B96-4D57-86FF-DE33E4F68681}"/>
              </a:ext>
            </a:extLst>
          </p:cNvPr>
          <p:cNvSpPr>
            <a:spLocks noGrp="1"/>
          </p:cNvSpPr>
          <p:nvPr/>
        </p:nvSpPr>
        <p:spPr>
          <a:xfrm>
            <a:off x="3105150" y="36195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ADMISSION_ID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C5FB44-F68F-48DC-9313-F0DB5A89B563}"/>
              </a:ext>
            </a:extLst>
          </p:cNvPr>
          <p:cNvSpPr>
            <a:spLocks noGrp="1"/>
          </p:cNvSpPr>
          <p:nvPr/>
        </p:nvSpPr>
        <p:spPr>
          <a:xfrm>
            <a:off x="5200650" y="3619500"/>
            <a:ext cx="567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Stores player admission records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079CFF-D5C3-42B4-AA25-2B5AD3A5EC3C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TOURNAMENT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427A25-78E5-49A2-B58B-17E4B156450D}"/>
              </a:ext>
            </a:extLst>
          </p:cNvPr>
          <p:cNvSpPr>
            <a:spLocks noGrp="1"/>
          </p:cNvSpPr>
          <p:nvPr/>
        </p:nvSpPr>
        <p:spPr>
          <a:xfrm>
            <a:off x="3105150" y="41148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TOURNAMENT_ID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3969C7-DCBF-42CD-8E79-C4B9B2FC934B}"/>
              </a:ext>
            </a:extLst>
          </p:cNvPr>
          <p:cNvSpPr>
            <a:spLocks noGrp="1"/>
          </p:cNvSpPr>
          <p:nvPr/>
        </p:nvSpPr>
        <p:spPr>
          <a:xfrm>
            <a:off x="5200650" y="4114800"/>
            <a:ext cx="567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Stores tournament details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6A4C56-0976-44EA-97BD-303BDF6B9EB8}"/>
              </a:ext>
            </a:extLst>
          </p:cNvPr>
          <p:cNvSpPr>
            <a:spLocks noGrp="1"/>
          </p:cNvSpPr>
          <p:nvPr/>
        </p:nvSpPr>
        <p:spPr>
          <a:xfrm>
            <a:off x="914400" y="4533900"/>
            <a:ext cx="10001250" cy="49530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92B11E-3397-48B9-AAC0-328543443CAE}"/>
              </a:ext>
            </a:extLst>
          </p:cNvPr>
          <p:cNvSpPr>
            <a:spLocks noGrp="1"/>
          </p:cNvSpPr>
          <p:nvPr/>
        </p:nvSpPr>
        <p:spPr>
          <a:xfrm>
            <a:off x="1009650" y="46101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ACHIEVEMENT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E5FDEC-9F6D-4DED-BBC5-B8EA00827F5A}"/>
              </a:ext>
            </a:extLst>
          </p:cNvPr>
          <p:cNvSpPr>
            <a:spLocks noGrp="1"/>
          </p:cNvSpPr>
          <p:nvPr/>
        </p:nvSpPr>
        <p:spPr>
          <a:xfrm>
            <a:off x="3105150" y="4610100"/>
            <a:ext cx="196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ACHIEVEMENT_ID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0BD8FC-25D4-457A-BD39-B6DC12D48772}"/>
              </a:ext>
            </a:extLst>
          </p:cNvPr>
          <p:cNvSpPr>
            <a:spLocks noGrp="1"/>
          </p:cNvSpPr>
          <p:nvPr/>
        </p:nvSpPr>
        <p:spPr>
          <a:xfrm>
            <a:off x="5200650" y="4610100"/>
            <a:ext cx="5676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Stores player achievements and ranks</a:t>
            </a:r>
          </a:p>
        </p:txBody>
      </p:sp>
    </p:spTree>
    <p:extLst>
      <p:ext uri="{BB962C8B-B14F-4D97-AF65-F5344CB8AC3E}">
        <p14:creationId xmlns:p14="http://schemas.microsoft.com/office/powerpoint/2010/main" val="606141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996A0C7-3CB0-487F-9A0D-4A4F8D49C05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Table Attributes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DB241-A760-45CA-8278-1FDAF3F3C349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Important columns in each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A889D9-0C94-42D9-BD95-E55563BA961D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CAA90F-8C04-4FA0-9D57-2E8AD172DEE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48DAD-ED03-4597-8A25-EF91EBF8A664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4476F9-C5B2-456A-BB2E-450C62194AF0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10477500" cy="360045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C9D5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B62FD-981E-4EFA-AFE0-204D2DD17828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10477500" cy="51435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2F170-C08A-43BB-8E9C-E0EF19F7D840}"/>
              </a:ext>
            </a:extLst>
          </p:cNvPr>
          <p:cNvSpPr>
            <a:spLocks noGrp="1"/>
          </p:cNvSpPr>
          <p:nvPr/>
        </p:nvSpPr>
        <p:spPr>
          <a:xfrm>
            <a:off x="819150" y="1562100"/>
            <a:ext cx="1866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C72D66-D298-4FEB-BB28-C81FADADAC7D}"/>
              </a:ext>
            </a:extLst>
          </p:cNvPr>
          <p:cNvSpPr>
            <a:spLocks noGrp="1"/>
          </p:cNvSpPr>
          <p:nvPr/>
        </p:nvSpPr>
        <p:spPr>
          <a:xfrm>
            <a:off x="2819400" y="1562100"/>
            <a:ext cx="834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Attributes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AF9B9B-BFE8-4ADF-9F27-1CFC2FDDD05D}"/>
              </a:ext>
            </a:extLst>
          </p:cNvPr>
          <p:cNvSpPr>
            <a:spLocks noGrp="1"/>
          </p:cNvSpPr>
          <p:nvPr/>
        </p:nvSpPr>
        <p:spPr>
          <a:xfrm>
            <a:off x="819150" y="20574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5EDAC2-9C65-4AC6-8D05-B57BDEDE7CF7}"/>
              </a:ext>
            </a:extLst>
          </p:cNvPr>
          <p:cNvSpPr>
            <a:spLocks noGrp="1"/>
          </p:cNvSpPr>
          <p:nvPr/>
        </p:nvSpPr>
        <p:spPr>
          <a:xfrm>
            <a:off x="2819400" y="2057400"/>
            <a:ext cx="834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SPORT_ID, SPORT_NAME, FEES, SCHEDULE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26433A-EF20-41B7-8F25-4F7CC1746F34}"/>
              </a:ext>
            </a:extLst>
          </p:cNvPr>
          <p:cNvSpPr>
            <a:spLocks noGrp="1"/>
          </p:cNvSpPr>
          <p:nvPr/>
        </p:nvSpPr>
        <p:spPr>
          <a:xfrm>
            <a:off x="723900" y="2495550"/>
            <a:ext cx="10477500" cy="51435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0AE8EC-E032-4295-8C2A-0459A660D095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1D9C0A-F2D5-4C04-A86A-ECAE4F27C835}"/>
              </a:ext>
            </a:extLst>
          </p:cNvPr>
          <p:cNvSpPr>
            <a:spLocks noGrp="1"/>
          </p:cNvSpPr>
          <p:nvPr/>
        </p:nvSpPr>
        <p:spPr>
          <a:xfrm>
            <a:off x="2819400" y="2571750"/>
            <a:ext cx="834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PLAYER_ID, PLAYER_NAME, AGE, GENDER, CONTACT_NO, SPORT_ID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839234-921D-4222-B9D7-4A3F9A6F8CE0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COACH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A0D1E4-1062-4FD0-BD8B-B543A9DD56AC}"/>
              </a:ext>
            </a:extLst>
          </p:cNvPr>
          <p:cNvSpPr>
            <a:spLocks noGrp="1"/>
          </p:cNvSpPr>
          <p:nvPr/>
        </p:nvSpPr>
        <p:spPr>
          <a:xfrm>
            <a:off x="2819400" y="3086100"/>
            <a:ext cx="834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COACH_ID, COACH_NAME, EXPERIENCE, CONTACT_NO, SALARY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681D7F-076F-4C3C-B9A4-05203BD51F9D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10477500" cy="51435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F8F494-95D5-4FB2-832A-9EB563CC9C2A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FF3CF1-45E1-47DB-A468-F19CEA602856}"/>
              </a:ext>
            </a:extLst>
          </p:cNvPr>
          <p:cNvSpPr>
            <a:spLocks noGrp="1"/>
          </p:cNvSpPr>
          <p:nvPr/>
        </p:nvSpPr>
        <p:spPr>
          <a:xfrm>
            <a:off x="2819400" y="3600450"/>
            <a:ext cx="834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ADMISSION_ID, PLAYER_ID, SPORT_ID, ADMISSION_DATE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089F7-7C33-4C55-A65F-BAE7F99101CD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TOURNAMENT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2204A8-8996-4BD5-8BC8-169B0AF66CF1}"/>
              </a:ext>
            </a:extLst>
          </p:cNvPr>
          <p:cNvSpPr>
            <a:spLocks noGrp="1"/>
          </p:cNvSpPr>
          <p:nvPr/>
        </p:nvSpPr>
        <p:spPr>
          <a:xfrm>
            <a:off x="2819400" y="4114800"/>
            <a:ext cx="834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TOURNAMENT_ID, TOURNAMENT_NAME, LOCATION, TOURNAMENT_DATE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8835C4-7F49-43AB-A58E-5F495ABAD781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10477500" cy="51435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57A988-991F-4131-AD9D-1AEE98000EFB}"/>
              </a:ext>
            </a:extLst>
          </p:cNvPr>
          <p:cNvSpPr>
            <a:spLocks noGrp="1"/>
          </p:cNvSpPr>
          <p:nvPr/>
        </p:nvSpPr>
        <p:spPr>
          <a:xfrm>
            <a:off x="819150" y="462915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ACHIEVEMENT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A30D99-617D-4901-B666-D3EFAECD66FF}"/>
              </a:ext>
            </a:extLst>
          </p:cNvPr>
          <p:cNvSpPr>
            <a:spLocks noGrp="1"/>
          </p:cNvSpPr>
          <p:nvPr/>
        </p:nvSpPr>
        <p:spPr>
          <a:xfrm>
            <a:off x="2819400" y="4629150"/>
            <a:ext cx="8343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ACHIEVEMENT_ID, PLAYER_ID, TOURNAMENT_ID, POSITION</a:t>
            </a:r>
          </a:p>
        </p:txBody>
      </p:sp>
    </p:spTree>
    <p:extLst>
      <p:ext uri="{BB962C8B-B14F-4D97-AF65-F5344CB8AC3E}">
        <p14:creationId xmlns:p14="http://schemas.microsoft.com/office/powerpoint/2010/main" val="196585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DAF4845-EDD0-4D0E-885B-6934D17682A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Relationships And ER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0C3D1-B4AC-4DA4-8207-57BF21E7C6ED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How foreign keys connect the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D58483-2B76-49AE-A9E9-0F0E14AC1F06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6768E0-0EEF-4415-909A-1B35C2A24F9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9C863-52DC-4688-B598-A8FBF96F686A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9460D2-13B3-49A7-8234-514FFF4C904C}"/>
              </a:ext>
            </a:extLst>
          </p:cNvPr>
          <p:cNvSpPr>
            <a:spLocks noGrp="1"/>
          </p:cNvSpPr>
          <p:nvPr/>
        </p:nvSpPr>
        <p:spPr>
          <a:xfrm>
            <a:off x="1123950" y="2114550"/>
            <a:ext cx="1524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0A23E-F9E4-40C6-BE23-F3BFAB05B3C4}"/>
              </a:ext>
            </a:extLst>
          </p:cNvPr>
          <p:cNvSpPr>
            <a:spLocks noGrp="1"/>
          </p:cNvSpPr>
          <p:nvPr/>
        </p:nvSpPr>
        <p:spPr>
          <a:xfrm>
            <a:off x="1219200" y="22669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SPORT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0CAA54-28A5-40B6-9739-C42EBDBADD79}"/>
              </a:ext>
            </a:extLst>
          </p:cNvPr>
          <p:cNvSpPr>
            <a:spLocks noGrp="1"/>
          </p:cNvSpPr>
          <p:nvPr/>
        </p:nvSpPr>
        <p:spPr>
          <a:xfrm>
            <a:off x="3429000" y="2114550"/>
            <a:ext cx="15240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EA2B49-FF36-4AFA-A82E-3D4CD3819CAC}"/>
              </a:ext>
            </a:extLst>
          </p:cNvPr>
          <p:cNvSpPr>
            <a:spLocks noGrp="1"/>
          </p:cNvSpPr>
          <p:nvPr/>
        </p:nvSpPr>
        <p:spPr>
          <a:xfrm>
            <a:off x="3524250" y="22669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6FFFC8-7C07-401B-8A91-DAD7F6DB22D2}"/>
              </a:ext>
            </a:extLst>
          </p:cNvPr>
          <p:cNvSpPr>
            <a:spLocks noGrp="1"/>
          </p:cNvSpPr>
          <p:nvPr/>
        </p:nvSpPr>
        <p:spPr>
          <a:xfrm>
            <a:off x="5753100" y="2114550"/>
            <a:ext cx="16573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5C5629-AA53-4033-95D6-4745DDDDFB5F}"/>
              </a:ext>
            </a:extLst>
          </p:cNvPr>
          <p:cNvSpPr>
            <a:spLocks noGrp="1"/>
          </p:cNvSpPr>
          <p:nvPr/>
        </p:nvSpPr>
        <p:spPr>
          <a:xfrm>
            <a:off x="5848350" y="2266950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ADMISSION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F78107-5BAD-4073-A277-25C0A47F82C1}"/>
              </a:ext>
            </a:extLst>
          </p:cNvPr>
          <p:cNvSpPr>
            <a:spLocks noGrp="1"/>
          </p:cNvSpPr>
          <p:nvPr/>
        </p:nvSpPr>
        <p:spPr>
          <a:xfrm>
            <a:off x="3429000" y="4171950"/>
            <a:ext cx="16764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9D944D-7054-4A1F-931C-EDA62222FC1A}"/>
              </a:ext>
            </a:extLst>
          </p:cNvPr>
          <p:cNvSpPr>
            <a:spLocks noGrp="1"/>
          </p:cNvSpPr>
          <p:nvPr/>
        </p:nvSpPr>
        <p:spPr>
          <a:xfrm>
            <a:off x="3524250" y="4324350"/>
            <a:ext cx="1485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TOURNAMENT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4A9E8BF-2A53-4428-AA8F-BDE15CF495D0}"/>
              </a:ext>
            </a:extLst>
          </p:cNvPr>
          <p:cNvSpPr>
            <a:spLocks noGrp="1"/>
          </p:cNvSpPr>
          <p:nvPr/>
        </p:nvSpPr>
        <p:spPr>
          <a:xfrm>
            <a:off x="5753100" y="4171950"/>
            <a:ext cx="1752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C7C158-E3E0-4BB7-8A7C-F505451CD58E}"/>
              </a:ext>
            </a:extLst>
          </p:cNvPr>
          <p:cNvSpPr>
            <a:spLocks noGrp="1"/>
          </p:cNvSpPr>
          <p:nvPr/>
        </p:nvSpPr>
        <p:spPr>
          <a:xfrm>
            <a:off x="5848350" y="43243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ACHIEVEMENT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7D16B7-5BFF-42BE-9015-84AEEF018F36}"/>
              </a:ext>
            </a:extLst>
          </p:cNvPr>
          <p:cNvSpPr>
            <a:spLocks noGrp="1"/>
          </p:cNvSpPr>
          <p:nvPr/>
        </p:nvSpPr>
        <p:spPr>
          <a:xfrm>
            <a:off x="2647950" y="2362200"/>
            <a:ext cx="78105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195635-3E3D-4FCA-B278-FF6474F0701A}"/>
              </a:ext>
            </a:extLst>
          </p:cNvPr>
          <p:cNvSpPr>
            <a:spLocks noGrp="1"/>
          </p:cNvSpPr>
          <p:nvPr/>
        </p:nvSpPr>
        <p:spPr>
          <a:xfrm>
            <a:off x="4953000" y="2362200"/>
            <a:ext cx="80010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83DCC2-0BA8-427C-BE3E-0AE6A8BC4222}"/>
              </a:ext>
            </a:extLst>
          </p:cNvPr>
          <p:cNvSpPr>
            <a:spLocks noGrp="1"/>
          </p:cNvSpPr>
          <p:nvPr/>
        </p:nvSpPr>
        <p:spPr>
          <a:xfrm>
            <a:off x="4248150" y="2647950"/>
            <a:ext cx="38100" cy="15240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E61F7F-C0BA-49CD-ABC8-A7797DB1AC48}"/>
              </a:ext>
            </a:extLst>
          </p:cNvPr>
          <p:cNvSpPr>
            <a:spLocks noGrp="1"/>
          </p:cNvSpPr>
          <p:nvPr/>
        </p:nvSpPr>
        <p:spPr>
          <a:xfrm>
            <a:off x="5105400" y="4419600"/>
            <a:ext cx="64770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C5499E-3607-4E47-8F06-9A40224945FF}"/>
              </a:ext>
            </a:extLst>
          </p:cNvPr>
          <p:cNvSpPr>
            <a:spLocks noGrp="1"/>
          </p:cNvSpPr>
          <p:nvPr/>
        </p:nvSpPr>
        <p:spPr>
          <a:xfrm>
            <a:off x="6572250" y="2647950"/>
            <a:ext cx="38100" cy="15240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6EEA18-1C2E-4545-A665-99DBFD3F3857}"/>
              </a:ext>
            </a:extLst>
          </p:cNvPr>
          <p:cNvSpPr>
            <a:spLocks noGrp="1"/>
          </p:cNvSpPr>
          <p:nvPr/>
        </p:nvSpPr>
        <p:spPr>
          <a:xfrm>
            <a:off x="990600" y="30099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One Sport -&gt; Many Players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2E6B18-8772-43BF-8CD3-97318D314ADA}"/>
              </a:ext>
            </a:extLst>
          </p:cNvPr>
          <p:cNvSpPr>
            <a:spLocks noGrp="1"/>
          </p:cNvSpPr>
          <p:nvPr/>
        </p:nvSpPr>
        <p:spPr>
          <a:xfrm>
            <a:off x="5410200" y="30099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Admission connects Player and Sport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ABD728-7AE3-4F0B-8EA8-6A08B687BC8F}"/>
              </a:ext>
            </a:extLst>
          </p:cNvPr>
          <p:cNvSpPr>
            <a:spLocks noGrp="1"/>
          </p:cNvSpPr>
          <p:nvPr/>
        </p:nvSpPr>
        <p:spPr>
          <a:xfrm>
            <a:off x="5105400" y="50673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Achievement connects Player and Tournament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D8F4D4C-E56C-41A5-BD5A-6850B9104173}"/>
              </a:ext>
            </a:extLst>
          </p:cNvPr>
          <p:cNvSpPr>
            <a:spLocks noGrp="1"/>
          </p:cNvSpPr>
          <p:nvPr/>
        </p:nvSpPr>
        <p:spPr>
          <a:xfrm>
            <a:off x="8686800" y="2009775"/>
            <a:ext cx="2381250" cy="25336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8684B3-2C9E-47C0-A02D-E062FCC34386}"/>
              </a:ext>
            </a:extLst>
          </p:cNvPr>
          <p:cNvSpPr>
            <a:spLocks noGrp="1"/>
          </p:cNvSpPr>
          <p:nvPr/>
        </p:nvSpPr>
        <p:spPr>
          <a:xfrm>
            <a:off x="8667750" y="1943100"/>
            <a:ext cx="76200" cy="253365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B2272-4A09-4A16-80CC-77A69BBE8D44}"/>
              </a:ext>
            </a:extLst>
          </p:cNvPr>
          <p:cNvSpPr>
            <a:spLocks noGrp="1"/>
          </p:cNvSpPr>
          <p:nvPr/>
        </p:nvSpPr>
        <p:spPr>
          <a:xfrm>
            <a:off x="8896350" y="2114550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4B942"/>
                </a:solidFill>
                <a:latin typeface="Aptos"/>
                <a:ea typeface="Aptos"/>
                <a:cs typeface="Aptos"/>
              </a:rPr>
              <a:t>Database statistics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7F3F02-305E-45B3-9D45-2D512A5E7AAA}"/>
              </a:ext>
            </a:extLst>
          </p:cNvPr>
          <p:cNvSpPr>
            <a:spLocks noGrp="1"/>
          </p:cNvSpPr>
          <p:nvPr/>
        </p:nvSpPr>
        <p:spPr>
          <a:xfrm>
            <a:off x="8896350" y="2762249"/>
            <a:ext cx="1981200" cy="20408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Total tables: 6</a:t>
            </a:r>
          </a:p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Primary keys: 6</a:t>
            </a:r>
          </a:p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Foreign keys: 5</a:t>
            </a:r>
          </a:p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Relationships: 5</a:t>
            </a:r>
          </a:p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Database type: Oracle SQL*Plus</a:t>
            </a:r>
          </a:p>
        </p:txBody>
      </p:sp>
    </p:spTree>
    <p:extLst>
      <p:ext uri="{BB962C8B-B14F-4D97-AF65-F5344CB8AC3E}">
        <p14:creationId xmlns:p14="http://schemas.microsoft.com/office/powerpoint/2010/main" val="51503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0F5E1C0-38A5-4989-A1D0-EEAF9F5149DA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Menu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6A7989-80E5-407B-99AD-304A888584D0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How SQL*Plus navigation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ACC625-EC15-49FE-9ACD-C8EFF3524713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C78B37-29B6-430B-8DFC-0B74959D52F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C3520-1335-4182-9B22-8789A2F42FF6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979963-5F4F-420C-9135-AF74CAADD981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16764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F402DB-1E31-4E72-A055-A869796A4051}"/>
              </a:ext>
            </a:extLst>
          </p:cNvPr>
          <p:cNvSpPr>
            <a:spLocks noGrp="1"/>
          </p:cNvSpPr>
          <p:nvPr/>
        </p:nvSpPr>
        <p:spPr>
          <a:xfrm>
            <a:off x="971550" y="2305050"/>
            <a:ext cx="1485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MAIN MENU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71E04C-1464-49EB-93C3-5C545FD8234F}"/>
              </a:ext>
            </a:extLst>
          </p:cNvPr>
          <p:cNvSpPr>
            <a:spLocks noGrp="1"/>
          </p:cNvSpPr>
          <p:nvPr/>
        </p:nvSpPr>
        <p:spPr>
          <a:xfrm>
            <a:off x="3238500" y="1200150"/>
            <a:ext cx="1714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943FA4-0B96-4258-83D2-484641B5DEF3}"/>
              </a:ext>
            </a:extLst>
          </p:cNvPr>
          <p:cNvSpPr>
            <a:spLocks noGrp="1"/>
          </p:cNvSpPr>
          <p:nvPr/>
        </p:nvSpPr>
        <p:spPr>
          <a:xfrm>
            <a:off x="3333750" y="13525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BBA5E7-A52B-4EBB-9F25-A239CB11BDAE}"/>
              </a:ext>
            </a:extLst>
          </p:cNvPr>
          <p:cNvSpPr>
            <a:spLocks noGrp="1"/>
          </p:cNvSpPr>
          <p:nvPr/>
        </p:nvSpPr>
        <p:spPr>
          <a:xfrm>
            <a:off x="2552700" y="2419350"/>
            <a:ext cx="68580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0CE3B5-4900-4D12-AB10-E405E8103FAB}"/>
              </a:ext>
            </a:extLst>
          </p:cNvPr>
          <p:cNvSpPr>
            <a:spLocks noGrp="1"/>
          </p:cNvSpPr>
          <p:nvPr/>
        </p:nvSpPr>
        <p:spPr>
          <a:xfrm>
            <a:off x="5467350" y="1200150"/>
            <a:ext cx="1714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6B0D9-232C-42D8-9E1F-9344623008FB}"/>
              </a:ext>
            </a:extLst>
          </p:cNvPr>
          <p:cNvSpPr>
            <a:spLocks noGrp="1"/>
          </p:cNvSpPr>
          <p:nvPr/>
        </p:nvSpPr>
        <p:spPr>
          <a:xfrm>
            <a:off x="5562600" y="13525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COACH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72FA4A-6087-4700-894C-11AFCDE112A5}"/>
              </a:ext>
            </a:extLst>
          </p:cNvPr>
          <p:cNvSpPr>
            <a:spLocks noGrp="1"/>
          </p:cNvSpPr>
          <p:nvPr/>
        </p:nvSpPr>
        <p:spPr>
          <a:xfrm>
            <a:off x="2552700" y="2419350"/>
            <a:ext cx="291465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0B92E73-957A-43FC-9B3E-BEEA5E074A96}"/>
              </a:ext>
            </a:extLst>
          </p:cNvPr>
          <p:cNvSpPr>
            <a:spLocks noGrp="1"/>
          </p:cNvSpPr>
          <p:nvPr/>
        </p:nvSpPr>
        <p:spPr>
          <a:xfrm>
            <a:off x="7696200" y="1200150"/>
            <a:ext cx="1714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E60272-52CB-46A2-9E1C-5DC674D06364}"/>
              </a:ext>
            </a:extLst>
          </p:cNvPr>
          <p:cNvSpPr>
            <a:spLocks noGrp="1"/>
          </p:cNvSpPr>
          <p:nvPr/>
        </p:nvSpPr>
        <p:spPr>
          <a:xfrm>
            <a:off x="7791450" y="13525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SPORT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2E4C23-B00A-40EA-8F58-9FAD328D7462}"/>
              </a:ext>
            </a:extLst>
          </p:cNvPr>
          <p:cNvSpPr>
            <a:spLocks noGrp="1"/>
          </p:cNvSpPr>
          <p:nvPr/>
        </p:nvSpPr>
        <p:spPr>
          <a:xfrm>
            <a:off x="2552700" y="2419350"/>
            <a:ext cx="514350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B121190-FB07-40D4-ACE5-5F84D54E193C}"/>
              </a:ext>
            </a:extLst>
          </p:cNvPr>
          <p:cNvSpPr>
            <a:spLocks noGrp="1"/>
          </p:cNvSpPr>
          <p:nvPr/>
        </p:nvSpPr>
        <p:spPr>
          <a:xfrm>
            <a:off x="3238500" y="3105150"/>
            <a:ext cx="1714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51C1D5-8678-4286-87A4-D0F52D637424}"/>
              </a:ext>
            </a:extLst>
          </p:cNvPr>
          <p:cNvSpPr>
            <a:spLocks noGrp="1"/>
          </p:cNvSpPr>
          <p:nvPr/>
        </p:nvSpPr>
        <p:spPr>
          <a:xfrm>
            <a:off x="3333750" y="32575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ADMISSION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583B09-7FAA-435A-A8FF-153EECBBC0EA}"/>
              </a:ext>
            </a:extLst>
          </p:cNvPr>
          <p:cNvSpPr>
            <a:spLocks noGrp="1"/>
          </p:cNvSpPr>
          <p:nvPr/>
        </p:nvSpPr>
        <p:spPr>
          <a:xfrm>
            <a:off x="2552700" y="2419350"/>
            <a:ext cx="68580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47DDC1-7E4A-48ED-8F35-B655F6208E91}"/>
              </a:ext>
            </a:extLst>
          </p:cNvPr>
          <p:cNvSpPr>
            <a:spLocks noGrp="1"/>
          </p:cNvSpPr>
          <p:nvPr/>
        </p:nvSpPr>
        <p:spPr>
          <a:xfrm>
            <a:off x="5467350" y="3105150"/>
            <a:ext cx="1714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F2BAE2-732E-4783-9979-1C3C7ED65C0E}"/>
              </a:ext>
            </a:extLst>
          </p:cNvPr>
          <p:cNvSpPr>
            <a:spLocks noGrp="1"/>
          </p:cNvSpPr>
          <p:nvPr/>
        </p:nvSpPr>
        <p:spPr>
          <a:xfrm>
            <a:off x="5562600" y="32575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TOURNAMENT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CCC276-11BF-4C01-A043-C92005E93F24}"/>
              </a:ext>
            </a:extLst>
          </p:cNvPr>
          <p:cNvSpPr>
            <a:spLocks noGrp="1"/>
          </p:cNvSpPr>
          <p:nvPr/>
        </p:nvSpPr>
        <p:spPr>
          <a:xfrm>
            <a:off x="2552700" y="2419350"/>
            <a:ext cx="291465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4C0B94D-65F8-4EF9-AFE2-37D873CE5C12}"/>
              </a:ext>
            </a:extLst>
          </p:cNvPr>
          <p:cNvSpPr>
            <a:spLocks noGrp="1"/>
          </p:cNvSpPr>
          <p:nvPr/>
        </p:nvSpPr>
        <p:spPr>
          <a:xfrm>
            <a:off x="7696200" y="3105150"/>
            <a:ext cx="1714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D91274-FB1E-42E2-AFB5-B7303500AAFE}"/>
              </a:ext>
            </a:extLst>
          </p:cNvPr>
          <p:cNvSpPr>
            <a:spLocks noGrp="1"/>
          </p:cNvSpPr>
          <p:nvPr/>
        </p:nvSpPr>
        <p:spPr>
          <a:xfrm>
            <a:off x="7791450" y="32575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ACHIEVEMENT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0B132C-E143-4A8A-AB6C-CEF321AD5906}"/>
              </a:ext>
            </a:extLst>
          </p:cNvPr>
          <p:cNvSpPr>
            <a:spLocks noGrp="1"/>
          </p:cNvSpPr>
          <p:nvPr/>
        </p:nvSpPr>
        <p:spPr>
          <a:xfrm>
            <a:off x="2552700" y="2419350"/>
            <a:ext cx="514350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9DEA373-7CBF-4576-AC9E-C2DFD8A21AF3}"/>
              </a:ext>
            </a:extLst>
          </p:cNvPr>
          <p:cNvSpPr>
            <a:spLocks noGrp="1"/>
          </p:cNvSpPr>
          <p:nvPr/>
        </p:nvSpPr>
        <p:spPr>
          <a:xfrm>
            <a:off x="5467350" y="4838700"/>
            <a:ext cx="1714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383">
            <a:solidFill>
              <a:srgbClr val="0F3D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42B2FD9-F814-41AF-BB09-32EAD46339F5}"/>
              </a:ext>
            </a:extLst>
          </p:cNvPr>
          <p:cNvSpPr>
            <a:spLocks noGrp="1"/>
          </p:cNvSpPr>
          <p:nvPr/>
        </p:nvSpPr>
        <p:spPr>
          <a:xfrm>
            <a:off x="5562600" y="49911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66AB5B-4852-40B6-BA85-F13B7CFD9B41}"/>
              </a:ext>
            </a:extLst>
          </p:cNvPr>
          <p:cNvSpPr>
            <a:spLocks noGrp="1"/>
          </p:cNvSpPr>
          <p:nvPr/>
        </p:nvSpPr>
        <p:spPr>
          <a:xfrm>
            <a:off x="2552700" y="2419350"/>
            <a:ext cx="2914650" cy="381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37E79C-5FC0-4247-BE50-E7D14721507F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The main menu accepts a choice and dispatches to the correct submenu script.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390AB3-E69A-4B49-B3C2-57F8BB1CFE1D}"/>
              </a:ext>
            </a:extLst>
          </p:cNvPr>
          <p:cNvSpPr>
            <a:spLocks noGrp="1"/>
          </p:cNvSpPr>
          <p:nvPr/>
        </p:nvSpPr>
        <p:spPr>
          <a:xfrm>
            <a:off x="876300" y="4152900"/>
            <a:ext cx="26860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Each submenu then opens the selected action: add, update, delete, search, display, or report.</a:t>
            </a:r>
          </a:p>
        </p:txBody>
      </p:sp>
    </p:spTree>
    <p:extLst>
      <p:ext uri="{BB962C8B-B14F-4D97-AF65-F5344CB8AC3E}">
        <p14:creationId xmlns:p14="http://schemas.microsoft.com/office/powerpoint/2010/main" val="160402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C337ADE-B165-4534-A3E6-973E2760D73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Core Operations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B99B5-9EA6-4E5C-8470-19A6C02BCC11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Actions used across modules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BAC7D5-4095-43B5-8D8C-C4DE57998CF4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A00D33-E14E-40B8-B89D-D5D739D15D7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837E2D-9AF6-46A9-BD43-E635CE048745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A5E217-498F-4CFA-9F5A-C3858F5C642F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1752600" cy="20764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1D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793F738-F3D3-473F-A5A1-B452787E0369}"/>
              </a:ext>
            </a:extLst>
          </p:cNvPr>
          <p:cNvSpPr>
            <a:spLocks noGrp="1"/>
          </p:cNvSpPr>
          <p:nvPr/>
        </p:nvSpPr>
        <p:spPr>
          <a:xfrm>
            <a:off x="1504950" y="2190750"/>
            <a:ext cx="571500" cy="57150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8F0014-8AD1-4F18-B3A4-BE45302A3F9C}"/>
              </a:ext>
            </a:extLst>
          </p:cNvPr>
          <p:cNvSpPr>
            <a:spLocks noGrp="1"/>
          </p:cNvSpPr>
          <p:nvPr/>
        </p:nvSpPr>
        <p:spPr>
          <a:xfrm>
            <a:off x="1104900" y="29908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ADD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403011-4FBB-4A48-8E69-0CF1DAF38A9B}"/>
              </a:ext>
            </a:extLst>
          </p:cNvPr>
          <p:cNvSpPr>
            <a:spLocks noGrp="1"/>
          </p:cNvSpPr>
          <p:nvPr/>
        </p:nvSpPr>
        <p:spPr>
          <a:xfrm>
            <a:off x="1143000" y="340995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Insert new record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88E76D-4A05-43B0-9119-6568D5194D7E}"/>
              </a:ext>
            </a:extLst>
          </p:cNvPr>
          <p:cNvSpPr>
            <a:spLocks noGrp="1"/>
          </p:cNvSpPr>
          <p:nvPr/>
        </p:nvSpPr>
        <p:spPr>
          <a:xfrm>
            <a:off x="3067050" y="1943100"/>
            <a:ext cx="1752600" cy="20764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1D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A1C375-188A-445C-A987-677FE4E65278}"/>
              </a:ext>
            </a:extLst>
          </p:cNvPr>
          <p:cNvSpPr>
            <a:spLocks noGrp="1"/>
          </p:cNvSpPr>
          <p:nvPr/>
        </p:nvSpPr>
        <p:spPr>
          <a:xfrm>
            <a:off x="3657600" y="2190750"/>
            <a:ext cx="571500" cy="57150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016943-9388-4BA1-9D33-DA8EC6CDFBE9}"/>
              </a:ext>
            </a:extLst>
          </p:cNvPr>
          <p:cNvSpPr>
            <a:spLocks noGrp="1"/>
          </p:cNvSpPr>
          <p:nvPr/>
        </p:nvSpPr>
        <p:spPr>
          <a:xfrm>
            <a:off x="3257550" y="29908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UPDATE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83C3E-0E7E-47E8-928A-ABF55FFB6759}"/>
              </a:ext>
            </a:extLst>
          </p:cNvPr>
          <p:cNvSpPr>
            <a:spLocks noGrp="1"/>
          </p:cNvSpPr>
          <p:nvPr/>
        </p:nvSpPr>
        <p:spPr>
          <a:xfrm>
            <a:off x="3295650" y="340995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Modify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4DEDDDA-7FDA-4222-B6FC-664986CDFC61}"/>
              </a:ext>
            </a:extLst>
          </p:cNvPr>
          <p:cNvSpPr>
            <a:spLocks noGrp="1"/>
          </p:cNvSpPr>
          <p:nvPr/>
        </p:nvSpPr>
        <p:spPr>
          <a:xfrm>
            <a:off x="5219700" y="1943100"/>
            <a:ext cx="1752600" cy="20764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1D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7414FA-2000-4AE1-AD78-57B9DEF85A8B}"/>
              </a:ext>
            </a:extLst>
          </p:cNvPr>
          <p:cNvSpPr>
            <a:spLocks noGrp="1"/>
          </p:cNvSpPr>
          <p:nvPr/>
        </p:nvSpPr>
        <p:spPr>
          <a:xfrm>
            <a:off x="5810250" y="2190750"/>
            <a:ext cx="571500" cy="57150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C12035-239D-479A-9416-28B9AC67E1B1}"/>
              </a:ext>
            </a:extLst>
          </p:cNvPr>
          <p:cNvSpPr>
            <a:spLocks noGrp="1"/>
          </p:cNvSpPr>
          <p:nvPr/>
        </p:nvSpPr>
        <p:spPr>
          <a:xfrm>
            <a:off x="5410200" y="29908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663003-3119-4918-8AF9-5EE474537215}"/>
              </a:ext>
            </a:extLst>
          </p:cNvPr>
          <p:cNvSpPr>
            <a:spLocks noGrp="1"/>
          </p:cNvSpPr>
          <p:nvPr/>
        </p:nvSpPr>
        <p:spPr>
          <a:xfrm>
            <a:off x="5448300" y="340995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Remove record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054FAD6-6A06-4D8A-BD24-91D86812AD2C}"/>
              </a:ext>
            </a:extLst>
          </p:cNvPr>
          <p:cNvSpPr>
            <a:spLocks noGrp="1"/>
          </p:cNvSpPr>
          <p:nvPr/>
        </p:nvSpPr>
        <p:spPr>
          <a:xfrm>
            <a:off x="7372350" y="1943100"/>
            <a:ext cx="1752600" cy="20764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1D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2B9D3D-4741-4EAF-A4B5-4FD494E6624F}"/>
              </a:ext>
            </a:extLst>
          </p:cNvPr>
          <p:cNvSpPr>
            <a:spLocks noGrp="1"/>
          </p:cNvSpPr>
          <p:nvPr/>
        </p:nvSpPr>
        <p:spPr>
          <a:xfrm>
            <a:off x="7962900" y="2190750"/>
            <a:ext cx="571500" cy="57150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49794E-92F0-4564-816A-39A7669152E6}"/>
              </a:ext>
            </a:extLst>
          </p:cNvPr>
          <p:cNvSpPr>
            <a:spLocks noGrp="1"/>
          </p:cNvSpPr>
          <p:nvPr/>
        </p:nvSpPr>
        <p:spPr>
          <a:xfrm>
            <a:off x="7562850" y="29908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201360-5E0A-4DC5-AAF7-81F3EB0EF965}"/>
              </a:ext>
            </a:extLst>
          </p:cNvPr>
          <p:cNvSpPr>
            <a:spLocks noGrp="1"/>
          </p:cNvSpPr>
          <p:nvPr/>
        </p:nvSpPr>
        <p:spPr>
          <a:xfrm>
            <a:off x="7600950" y="340995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Find by ID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CC9EE5-1051-469E-B30B-E534413AEEC6}"/>
              </a:ext>
            </a:extLst>
          </p:cNvPr>
          <p:cNvSpPr>
            <a:spLocks noGrp="1"/>
          </p:cNvSpPr>
          <p:nvPr/>
        </p:nvSpPr>
        <p:spPr>
          <a:xfrm>
            <a:off x="9525000" y="1943100"/>
            <a:ext cx="1752600" cy="20764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1D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386E726-75AC-4399-8ED1-FACACEF80717}"/>
              </a:ext>
            </a:extLst>
          </p:cNvPr>
          <p:cNvSpPr>
            <a:spLocks noGrp="1"/>
          </p:cNvSpPr>
          <p:nvPr/>
        </p:nvSpPr>
        <p:spPr>
          <a:xfrm>
            <a:off x="10115550" y="2190750"/>
            <a:ext cx="571500" cy="57150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55A3B9-DDC0-4FF5-98B6-98F38CD463C7}"/>
              </a:ext>
            </a:extLst>
          </p:cNvPr>
          <p:cNvSpPr>
            <a:spLocks noGrp="1"/>
          </p:cNvSpPr>
          <p:nvPr/>
        </p:nvSpPr>
        <p:spPr>
          <a:xfrm>
            <a:off x="9715500" y="29908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DISPLAY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5627B8-0FDB-49D5-8DCF-D15273BE370A}"/>
              </a:ext>
            </a:extLst>
          </p:cNvPr>
          <p:cNvSpPr>
            <a:spLocks noGrp="1"/>
          </p:cNvSpPr>
          <p:nvPr/>
        </p:nvSpPr>
        <p:spPr>
          <a:xfrm>
            <a:off x="9753600" y="340995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Show all records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5CE82A-F64A-4880-848F-BE27D36EED2E}"/>
              </a:ext>
            </a:extLst>
          </p:cNvPr>
          <p:cNvSpPr>
            <a:spLocks noGrp="1"/>
          </p:cNvSpPr>
          <p:nvPr/>
        </p:nvSpPr>
        <p:spPr>
          <a:xfrm>
            <a:off x="2095500" y="4686300"/>
            <a:ext cx="8001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4DE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158E8A-F150-442B-8CA1-BCD88B641EF9}"/>
              </a:ext>
            </a:extLst>
          </p:cNvPr>
          <p:cNvSpPr>
            <a:spLocks noGrp="1"/>
          </p:cNvSpPr>
          <p:nvPr/>
        </p:nvSpPr>
        <p:spPr>
          <a:xfrm>
            <a:off x="2095500" y="4686300"/>
            <a:ext cx="76200" cy="76200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CF206-464F-4459-8A6C-BF2D17499625}"/>
              </a:ext>
            </a:extLst>
          </p:cNvPr>
          <p:cNvSpPr>
            <a:spLocks noGrp="1"/>
          </p:cNvSpPr>
          <p:nvPr/>
        </p:nvSpPr>
        <p:spPr>
          <a:xfrm>
            <a:off x="2324100" y="4857750"/>
            <a:ext cx="7600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4B942"/>
                </a:solidFill>
                <a:latin typeface="Aptos"/>
                <a:ea typeface="Aptos"/>
                <a:cs typeface="Aptos"/>
              </a:rPr>
              <a:t>Commit after changes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112BA7-337D-411A-B133-56E9E117D87F}"/>
              </a:ext>
            </a:extLst>
          </p:cNvPr>
          <p:cNvSpPr>
            <a:spLocks noGrp="1"/>
          </p:cNvSpPr>
          <p:nvPr/>
        </p:nvSpPr>
        <p:spPr>
          <a:xfrm>
            <a:off x="2324100" y="5219700"/>
            <a:ext cx="76009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Add, update, and delete scripts include COMMIT so successful data changes are saved.</a:t>
            </a:r>
          </a:p>
        </p:txBody>
      </p:sp>
    </p:spTree>
    <p:extLst>
      <p:ext uri="{BB962C8B-B14F-4D97-AF65-F5344CB8AC3E}">
        <p14:creationId xmlns:p14="http://schemas.microsoft.com/office/powerpoint/2010/main" val="205272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1186560-BB69-4D12-ACFE-66FFF70FD72D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Reports And Queries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E1FDBD-2D65-4050-A424-7D3CD8CEFB5F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Reports explain connected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25562B-3F16-4EE4-BFD4-29E4ACE3ECED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4CB07-F30B-4924-9EFD-E7DA5C17372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BB1BD6-CB70-42AD-BDF1-89E48A54C304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B0130C-0CF8-4365-A583-1426A2B4BB3D}"/>
              </a:ext>
            </a:extLst>
          </p:cNvPr>
          <p:cNvSpPr>
            <a:spLocks noGrp="1"/>
          </p:cNvSpPr>
          <p:nvPr/>
        </p:nvSpPr>
        <p:spPr>
          <a:xfrm>
            <a:off x="895350" y="1562099"/>
            <a:ext cx="9810750" cy="3733801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C9D5D1"/>
            </a:solidFill>
            <a:prstDash val="solid"/>
          </a:ln>
        </p:spPr>
        <p:txBody>
          <a:bodyPr/>
          <a:lstStyle/>
          <a:p>
            <a:endParaRPr lang="en-I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177740-56F4-42F0-B8CE-EF41A2414D41}"/>
              </a:ext>
            </a:extLst>
          </p:cNvPr>
          <p:cNvSpPr>
            <a:spLocks noGrp="1"/>
          </p:cNvSpPr>
          <p:nvPr/>
        </p:nvSpPr>
        <p:spPr>
          <a:xfrm>
            <a:off x="895350" y="1562100"/>
            <a:ext cx="9810750" cy="533400"/>
          </a:xfrm>
          <a:prstGeom prst="rect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C8109-7E52-4969-8FEA-C90053485689}"/>
              </a:ext>
            </a:extLst>
          </p:cNvPr>
          <p:cNvSpPr>
            <a:spLocks noGrp="1"/>
          </p:cNvSpPr>
          <p:nvPr/>
        </p:nvSpPr>
        <p:spPr>
          <a:xfrm>
            <a:off x="990600" y="1657350"/>
            <a:ext cx="272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49284-7A4C-4830-912B-436785B15FE0}"/>
              </a:ext>
            </a:extLst>
          </p:cNvPr>
          <p:cNvSpPr>
            <a:spLocks noGrp="1"/>
          </p:cNvSpPr>
          <p:nvPr/>
        </p:nvSpPr>
        <p:spPr>
          <a:xfrm>
            <a:off x="3848100" y="1657350"/>
            <a:ext cx="681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Explanation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BF274F-6B6C-435E-BC29-8C6D7BE26412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Player Report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2E57B8-8B93-4229-9BAE-F6A8453FFE4E}"/>
              </a:ext>
            </a:extLst>
          </p:cNvPr>
          <p:cNvSpPr>
            <a:spLocks noGrp="1"/>
          </p:cNvSpPr>
          <p:nvPr/>
        </p:nvSpPr>
        <p:spPr>
          <a:xfrm>
            <a:off x="3848100" y="2171700"/>
            <a:ext cx="681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Player details with selected sport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BC2AEE-1D10-4ECC-8910-4655689A6059}"/>
              </a:ext>
            </a:extLst>
          </p:cNvPr>
          <p:cNvSpPr>
            <a:spLocks noGrp="1"/>
          </p:cNvSpPr>
          <p:nvPr/>
        </p:nvSpPr>
        <p:spPr>
          <a:xfrm>
            <a:off x="895350" y="2628900"/>
            <a:ext cx="9810750" cy="53340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1D8984-3769-4144-B6E4-03B84F5D0F35}"/>
              </a:ext>
            </a:extLst>
          </p:cNvPr>
          <p:cNvSpPr>
            <a:spLocks noGrp="1"/>
          </p:cNvSpPr>
          <p:nvPr/>
        </p:nvSpPr>
        <p:spPr>
          <a:xfrm>
            <a:off x="990600" y="27051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Coach Report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A5D136-905A-4846-8DE6-85B4107A1824}"/>
              </a:ext>
            </a:extLst>
          </p:cNvPr>
          <p:cNvSpPr>
            <a:spLocks noGrp="1"/>
          </p:cNvSpPr>
          <p:nvPr/>
        </p:nvSpPr>
        <p:spPr>
          <a:xfrm>
            <a:off x="3848100" y="2705100"/>
            <a:ext cx="681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Coach experience, contact, and salary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E0AD7-124D-4F53-8355-5C15F1471989}"/>
              </a:ext>
            </a:extLst>
          </p:cNvPr>
          <p:cNvSpPr>
            <a:spLocks noGrp="1"/>
          </p:cNvSpPr>
          <p:nvPr/>
        </p:nvSpPr>
        <p:spPr>
          <a:xfrm>
            <a:off x="990600" y="32385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Sports Report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DF7F58-0AB8-4BEB-A152-E86F2CDC1E5C}"/>
              </a:ext>
            </a:extLst>
          </p:cNvPr>
          <p:cNvSpPr>
            <a:spLocks noGrp="1"/>
          </p:cNvSpPr>
          <p:nvPr/>
        </p:nvSpPr>
        <p:spPr>
          <a:xfrm>
            <a:off x="3848100" y="3238500"/>
            <a:ext cx="681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Sport fees and schedules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CBB988-2F0F-4F8A-88ED-47A88AFD3129}"/>
              </a:ext>
            </a:extLst>
          </p:cNvPr>
          <p:cNvSpPr>
            <a:spLocks noGrp="1"/>
          </p:cNvSpPr>
          <p:nvPr/>
        </p:nvSpPr>
        <p:spPr>
          <a:xfrm>
            <a:off x="895350" y="3695700"/>
            <a:ext cx="9810750" cy="53340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04735E-22C5-42AA-BE5C-4F011846889F}"/>
              </a:ext>
            </a:extLst>
          </p:cNvPr>
          <p:cNvSpPr>
            <a:spLocks noGrp="1"/>
          </p:cNvSpPr>
          <p:nvPr/>
        </p:nvSpPr>
        <p:spPr>
          <a:xfrm>
            <a:off x="990600" y="37719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Admission Report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37CBE0-2AC6-4014-84F1-BC4360D3D424}"/>
              </a:ext>
            </a:extLst>
          </p:cNvPr>
          <p:cNvSpPr>
            <a:spLocks noGrp="1"/>
          </p:cNvSpPr>
          <p:nvPr/>
        </p:nvSpPr>
        <p:spPr>
          <a:xfrm>
            <a:off x="3848100" y="3771900"/>
            <a:ext cx="681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Admission data with player and sport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05205E-6A46-4015-A332-00D05BFF82D2}"/>
              </a:ext>
            </a:extLst>
          </p:cNvPr>
          <p:cNvSpPr>
            <a:spLocks noGrp="1"/>
          </p:cNvSpPr>
          <p:nvPr/>
        </p:nvSpPr>
        <p:spPr>
          <a:xfrm>
            <a:off x="990600" y="43053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Tournament Report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29C255-043B-4743-AC7B-6BA2E6F7E6F4}"/>
              </a:ext>
            </a:extLst>
          </p:cNvPr>
          <p:cNvSpPr>
            <a:spLocks noGrp="1"/>
          </p:cNvSpPr>
          <p:nvPr/>
        </p:nvSpPr>
        <p:spPr>
          <a:xfrm>
            <a:off x="3848100" y="4305300"/>
            <a:ext cx="681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Tournament location and 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C2DF95-8600-4CDF-9D22-7386386F0B85}"/>
              </a:ext>
            </a:extLst>
          </p:cNvPr>
          <p:cNvSpPr>
            <a:spLocks noGrp="1"/>
          </p:cNvSpPr>
          <p:nvPr/>
        </p:nvSpPr>
        <p:spPr>
          <a:xfrm>
            <a:off x="895350" y="4762500"/>
            <a:ext cx="9810750" cy="533400"/>
          </a:xfrm>
          <a:prstGeom prst="rect">
            <a:avLst/>
          </a:prstGeom>
          <a:solidFill>
            <a:srgbClr val="F0F5F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06D47F-5BA2-4B27-8716-FD9EBC9BA966}"/>
              </a:ext>
            </a:extLst>
          </p:cNvPr>
          <p:cNvSpPr>
            <a:spLocks noGrp="1"/>
          </p:cNvSpPr>
          <p:nvPr/>
        </p:nvSpPr>
        <p:spPr>
          <a:xfrm>
            <a:off x="990600" y="4838700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Achievement Report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14A72E-1C94-4E97-AB9D-C545F6DD9584}"/>
              </a:ext>
            </a:extLst>
          </p:cNvPr>
          <p:cNvSpPr>
            <a:spLocks noGrp="1"/>
          </p:cNvSpPr>
          <p:nvPr/>
        </p:nvSpPr>
        <p:spPr>
          <a:xfrm>
            <a:off x="3848100" y="4838700"/>
            <a:ext cx="6819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Player rank with tournament details</a:t>
            </a:r>
          </a:p>
        </p:txBody>
      </p:sp>
    </p:spTree>
    <p:extLst>
      <p:ext uri="{BB962C8B-B14F-4D97-AF65-F5344CB8AC3E}">
        <p14:creationId xmlns:p14="http://schemas.microsoft.com/office/powerpoint/2010/main" val="789124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5935A65-929B-4DD6-B919-90547EF7545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Debugging And Improvements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27309F-6455-44E7-90CB-F8F889954C7D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Issues fixed in the final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F806BD-71C0-4C0A-A684-503EA8E7D797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9C9CAF-AC9B-42B4-8EFD-F33B4F3427C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04D7EE-5ABE-464B-9840-D14BB559D200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F75F29-EECF-4252-9295-8CA3328EDF96}"/>
              </a:ext>
            </a:extLst>
          </p:cNvPr>
          <p:cNvSpPr>
            <a:spLocks noGrp="1"/>
          </p:cNvSpPr>
          <p:nvPr/>
        </p:nvSpPr>
        <p:spPr>
          <a:xfrm>
            <a:off x="1104900" y="1562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 i="0">
                <a:solidFill>
                  <a:srgbClr val="B54545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B54545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96353-9851-43FC-BD9F-04BEE1FA6326}"/>
              </a:ext>
            </a:extLst>
          </p:cNvPr>
          <p:cNvSpPr>
            <a:spLocks noGrp="1"/>
          </p:cNvSpPr>
          <p:nvPr/>
        </p:nvSpPr>
        <p:spPr>
          <a:xfrm>
            <a:off x="6648450" y="1562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437E89F-13BE-48E2-8D19-5AAB0F80B1C8}"/>
              </a:ext>
            </a:extLst>
          </p:cNvPr>
          <p:cNvSpPr>
            <a:spLocks noGrp="1"/>
          </p:cNvSpPr>
          <p:nvPr/>
        </p:nvSpPr>
        <p:spPr>
          <a:xfrm>
            <a:off x="1123950" y="21812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8FB3F6-36C9-4FF5-A8DE-E64D33E8AC36}"/>
              </a:ext>
            </a:extLst>
          </p:cNvPr>
          <p:cNvSpPr>
            <a:spLocks noGrp="1"/>
          </p:cNvSpPr>
          <p:nvPr/>
        </p:nvSpPr>
        <p:spPr>
          <a:xfrm>
            <a:off x="1371600" y="2095500"/>
            <a:ext cx="3848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Copied SQL*Plus transcript prompts in setup files.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CF62F9-5F03-47B6-88F9-ECBA2D0D2C78}"/>
              </a:ext>
            </a:extLst>
          </p:cNvPr>
          <p:cNvSpPr>
            <a:spLocks noGrp="1"/>
          </p:cNvSpPr>
          <p:nvPr/>
        </p:nvSpPr>
        <p:spPr>
          <a:xfrm>
            <a:off x="1123950" y="28289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DEE50E-4415-41DB-9497-FC66C2BD075A}"/>
              </a:ext>
            </a:extLst>
          </p:cNvPr>
          <p:cNvSpPr>
            <a:spLocks noGrp="1"/>
          </p:cNvSpPr>
          <p:nvPr/>
        </p:nvSpPr>
        <p:spPr>
          <a:xfrm>
            <a:off x="1371600" y="2743200"/>
            <a:ext cx="3848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Main menu printed messages but did not open submenus.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AC435E-5F05-44BE-B8AE-E3FDCA9B06E5}"/>
              </a:ext>
            </a:extLst>
          </p:cNvPr>
          <p:cNvSpPr>
            <a:spLocks noGrp="1"/>
          </p:cNvSpPr>
          <p:nvPr/>
        </p:nvSpPr>
        <p:spPr>
          <a:xfrm>
            <a:off x="1123950" y="34766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16BB08-CF6A-4B3A-978E-79FB6024E0FD}"/>
              </a:ext>
            </a:extLst>
          </p:cNvPr>
          <p:cNvSpPr>
            <a:spLocks noGrp="1"/>
          </p:cNvSpPr>
          <p:nvPr/>
        </p:nvSpPr>
        <p:spPr>
          <a:xfrm>
            <a:off x="1371600" y="3390900"/>
            <a:ext cx="3848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Search and display options printed SQL text only.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2732B1-2301-4F56-9872-B31C36F016A4}"/>
              </a:ext>
            </a:extLst>
          </p:cNvPr>
          <p:cNvSpPr>
            <a:spLocks noGrp="1"/>
          </p:cNvSpPr>
          <p:nvPr/>
        </p:nvSpPr>
        <p:spPr>
          <a:xfrm>
            <a:off x="1123950" y="41243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C377B1-4473-437E-91DE-19ED8EC4D838}"/>
              </a:ext>
            </a:extLst>
          </p:cNvPr>
          <p:cNvSpPr>
            <a:spLocks noGrp="1"/>
          </p:cNvSpPr>
          <p:nvPr/>
        </p:nvSpPr>
        <p:spPr>
          <a:xfrm>
            <a:off x="1371600" y="4038600"/>
            <a:ext cx="3848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Reports option existed without a working reports menu.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8BF9B9-E673-491F-B1EF-D4B7AEFF846C}"/>
              </a:ext>
            </a:extLst>
          </p:cNvPr>
          <p:cNvSpPr>
            <a:spLocks noGrp="1"/>
          </p:cNvSpPr>
          <p:nvPr/>
        </p:nvSpPr>
        <p:spPr>
          <a:xfrm>
            <a:off x="6667500" y="21812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784BEE-BB25-4915-A39F-EF783D121D42}"/>
              </a:ext>
            </a:extLst>
          </p:cNvPr>
          <p:cNvSpPr>
            <a:spLocks noGrp="1"/>
          </p:cNvSpPr>
          <p:nvPr/>
        </p:nvSpPr>
        <p:spPr>
          <a:xfrm>
            <a:off x="6915150" y="2095500"/>
            <a:ext cx="3848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Added clean schema.sql and seed.sql setup files.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955517-53D9-4C62-95EF-8514770DF4C7}"/>
              </a:ext>
            </a:extLst>
          </p:cNvPr>
          <p:cNvSpPr>
            <a:spLocks noGrp="1"/>
          </p:cNvSpPr>
          <p:nvPr/>
        </p:nvSpPr>
        <p:spPr>
          <a:xfrm>
            <a:off x="6667500" y="28289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E68CE1-4534-468A-AAFC-0F3D2C443F19}"/>
              </a:ext>
            </a:extLst>
          </p:cNvPr>
          <p:cNvSpPr>
            <a:spLocks noGrp="1"/>
          </p:cNvSpPr>
          <p:nvPr/>
        </p:nvSpPr>
        <p:spPr>
          <a:xfrm>
            <a:off x="6915150" y="2743200"/>
            <a:ext cx="3848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Main menu now dispatches to real submenu scripts.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9EF375-D843-4C35-88E5-7B463852696D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5BBAE1-9F76-4D3D-A446-E30BEEC39568}"/>
              </a:ext>
            </a:extLst>
          </p:cNvPr>
          <p:cNvSpPr>
            <a:spLocks noGrp="1"/>
          </p:cNvSpPr>
          <p:nvPr/>
        </p:nvSpPr>
        <p:spPr>
          <a:xfrm>
            <a:off x="6915150" y="3390900"/>
            <a:ext cx="3848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Search and display now run SELECT queries.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03153BD-5390-4773-98B0-3A33B5849B35}"/>
              </a:ext>
            </a:extLst>
          </p:cNvPr>
          <p:cNvSpPr>
            <a:spLocks noGrp="1"/>
          </p:cNvSpPr>
          <p:nvPr/>
        </p:nvSpPr>
        <p:spPr>
          <a:xfrm>
            <a:off x="6667500" y="41243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E5E85B-5E08-460C-9934-B887DD51F9E5}"/>
              </a:ext>
            </a:extLst>
          </p:cNvPr>
          <p:cNvSpPr>
            <a:spLocks noGrp="1"/>
          </p:cNvSpPr>
          <p:nvPr/>
        </p:nvSpPr>
        <p:spPr>
          <a:xfrm>
            <a:off x="6915150" y="4038600"/>
            <a:ext cx="3848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0" i="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Added joined report scripts</a:t>
            </a:r>
            <a:r>
              <a:rPr lang="en-US" sz="1350" b="0" i="0" dirty="0">
                <a:solidFill>
                  <a:srgbClr val="263238"/>
                </a:solidFill>
                <a:latin typeface="Aptos"/>
                <a:ea typeface="Aptos"/>
                <a:cs typeface="Aptos"/>
              </a:rPr>
              <a:t>.</a:t>
            </a:r>
            <a:endParaRPr sz="1350" b="0" i="0" dirty="0">
              <a:solidFill>
                <a:srgbClr val="26323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65CD8B-3B4B-4CA3-9532-645BBF7D6668}"/>
              </a:ext>
            </a:extLst>
          </p:cNvPr>
          <p:cNvSpPr>
            <a:spLocks noGrp="1"/>
          </p:cNvSpPr>
          <p:nvPr/>
        </p:nvSpPr>
        <p:spPr>
          <a:xfrm>
            <a:off x="5810250" y="2000250"/>
            <a:ext cx="38100" cy="295275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265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A2734DE-00FF-4428-8903-54419698F72F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F3D3E"/>
                </a:solidFill>
                <a:latin typeface="Aptos Display"/>
                <a:ea typeface="Aptos Display"/>
                <a:cs typeface="Aptos Display"/>
              </a:rPr>
              <a:t>How To Run The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A2EAAA-7541-4E55-85AA-24A118C5F014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0706D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0706D"/>
                </a:solidFill>
                <a:latin typeface="Aptos"/>
                <a:ea typeface="Aptos"/>
                <a:cs typeface="Aptos"/>
              </a:rPr>
              <a:t>Execution steps for Oracle SQL*Plus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E57DDC-E9C7-4F62-AEC5-17BEF285BBE4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1066800" cy="47625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D980AC-1287-47F4-A81C-2644F0D44ED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0" i="0">
                <a:solidFill>
                  <a:srgbClr val="7A8784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7A8784"/>
                </a:solidFill>
                <a:latin typeface="Aptos"/>
                <a:ea typeface="Aptos"/>
                <a:cs typeface="Aptos"/>
              </a:rPr>
              <a:t>Sports Academy Management | Oracle SQL*Plus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95839D-3224-4B67-A00B-46D5B3302B16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0F3D3E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F3D3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B84DF4-B2C8-493C-B410-11FC27EECED4}"/>
              </a:ext>
            </a:extLst>
          </p:cNvPr>
          <p:cNvSpPr>
            <a:spLocks noGrp="1"/>
          </p:cNvSpPr>
          <p:nvPr/>
        </p:nvSpPr>
        <p:spPr>
          <a:xfrm>
            <a:off x="1123950" y="1504950"/>
            <a:ext cx="457200" cy="45720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06ABB-70F0-4530-A2E6-C299A7E2F743}"/>
              </a:ext>
            </a:extLst>
          </p:cNvPr>
          <p:cNvSpPr>
            <a:spLocks noGrp="1"/>
          </p:cNvSpPr>
          <p:nvPr/>
        </p:nvSpPr>
        <p:spPr>
          <a:xfrm>
            <a:off x="1285875" y="1609725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A690B0-48E6-4D2E-ABA6-C789AF55BD9B}"/>
              </a:ext>
            </a:extLst>
          </p:cNvPr>
          <p:cNvSpPr>
            <a:spLocks noGrp="1"/>
          </p:cNvSpPr>
          <p:nvPr/>
        </p:nvSpPr>
        <p:spPr>
          <a:xfrm>
            <a:off x="1809750" y="148590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2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2EDF06-0535-4084-9BEC-0B9EE05AF06C}"/>
              </a:ext>
            </a:extLst>
          </p:cNvPr>
          <p:cNvSpPr>
            <a:spLocks noGrp="1"/>
          </p:cNvSpPr>
          <p:nvPr/>
        </p:nvSpPr>
        <p:spPr>
          <a:xfrm>
            <a:off x="2057400" y="16287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Create or log in as the SPORTS database user.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279903E-B817-42B3-9B9E-4350563B3D19}"/>
              </a:ext>
            </a:extLst>
          </p:cNvPr>
          <p:cNvSpPr>
            <a:spLocks noGrp="1"/>
          </p:cNvSpPr>
          <p:nvPr/>
        </p:nvSpPr>
        <p:spPr>
          <a:xfrm>
            <a:off x="1123950" y="2286000"/>
            <a:ext cx="457200" cy="45720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0B3BA3-6B8C-482A-8013-90159C71A674}"/>
              </a:ext>
            </a:extLst>
          </p:cNvPr>
          <p:cNvSpPr>
            <a:spLocks noGrp="1"/>
          </p:cNvSpPr>
          <p:nvPr/>
        </p:nvSpPr>
        <p:spPr>
          <a:xfrm>
            <a:off x="1285875" y="2390775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FD6A11-46F9-4F59-969E-6A3C8162C86D}"/>
              </a:ext>
            </a:extLst>
          </p:cNvPr>
          <p:cNvSpPr>
            <a:spLocks noGrp="1"/>
          </p:cNvSpPr>
          <p:nvPr/>
        </p:nvSpPr>
        <p:spPr>
          <a:xfrm>
            <a:off x="1809750" y="226695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2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B96357-E4FC-441F-8FEF-609CE4A86C44}"/>
              </a:ext>
            </a:extLst>
          </p:cNvPr>
          <p:cNvSpPr>
            <a:spLocks noGrp="1"/>
          </p:cNvSpPr>
          <p:nvPr/>
        </p:nvSpPr>
        <p:spPr>
          <a:xfrm>
            <a:off x="2057400" y="240982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Run schema.sql to create tables and constraints.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B0BC6E-9F40-4E3E-9700-95FA3EE18421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457200" cy="45720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F289F3-15B1-4702-972E-F2100D35098A}"/>
              </a:ext>
            </a:extLst>
          </p:cNvPr>
          <p:cNvSpPr>
            <a:spLocks noGrp="1"/>
          </p:cNvSpPr>
          <p:nvPr/>
        </p:nvSpPr>
        <p:spPr>
          <a:xfrm>
            <a:off x="1285875" y="3171825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060C8E5-F193-4EFB-A79C-7DDBF4C21F1C}"/>
              </a:ext>
            </a:extLst>
          </p:cNvPr>
          <p:cNvSpPr>
            <a:spLocks noGrp="1"/>
          </p:cNvSpPr>
          <p:nvPr/>
        </p:nvSpPr>
        <p:spPr>
          <a:xfrm>
            <a:off x="1809750" y="304800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2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8CD322-C382-454C-A557-2061C7E9F217}"/>
              </a:ext>
            </a:extLst>
          </p:cNvPr>
          <p:cNvSpPr>
            <a:spLocks noGrp="1"/>
          </p:cNvSpPr>
          <p:nvPr/>
        </p:nvSpPr>
        <p:spPr>
          <a:xfrm>
            <a:off x="2057400" y="31908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Run seed.sql to insert sample records.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6AE5B4D-F0AA-413C-9797-33C1B04186EA}"/>
              </a:ext>
            </a:extLst>
          </p:cNvPr>
          <p:cNvSpPr>
            <a:spLocks noGrp="1"/>
          </p:cNvSpPr>
          <p:nvPr/>
        </p:nvSpPr>
        <p:spPr>
          <a:xfrm>
            <a:off x="1123950" y="3848100"/>
            <a:ext cx="457200" cy="45720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CDE028-FF96-4922-B385-4ADA57493248}"/>
              </a:ext>
            </a:extLst>
          </p:cNvPr>
          <p:cNvSpPr>
            <a:spLocks noGrp="1"/>
          </p:cNvSpPr>
          <p:nvPr/>
        </p:nvSpPr>
        <p:spPr>
          <a:xfrm>
            <a:off x="1285875" y="3952875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9A60BA-DE3A-440C-B0E6-97CD11A79343}"/>
              </a:ext>
            </a:extLst>
          </p:cNvPr>
          <p:cNvSpPr>
            <a:spLocks noGrp="1"/>
          </p:cNvSpPr>
          <p:nvPr/>
        </p:nvSpPr>
        <p:spPr>
          <a:xfrm>
            <a:off x="1809750" y="382905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2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EBE500-7A84-462C-B119-0D543599CF23}"/>
              </a:ext>
            </a:extLst>
          </p:cNvPr>
          <p:cNvSpPr>
            <a:spLocks noGrp="1"/>
          </p:cNvSpPr>
          <p:nvPr/>
        </p:nvSpPr>
        <p:spPr>
          <a:xfrm>
            <a:off x="2057400" y="397192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Run @sqlprograms/mainmenu.sql to start the system.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CA8E91-E450-4677-9AE1-49249AD7F687}"/>
              </a:ext>
            </a:extLst>
          </p:cNvPr>
          <p:cNvSpPr>
            <a:spLocks noGrp="1"/>
          </p:cNvSpPr>
          <p:nvPr/>
        </p:nvSpPr>
        <p:spPr>
          <a:xfrm>
            <a:off x="1123950" y="4629150"/>
            <a:ext cx="457200" cy="457200"/>
          </a:xfrm>
          <a:prstGeom prst="ellipse">
            <a:avLst/>
          </a:prstGeom>
          <a:solidFill>
            <a:srgbClr val="0F3D3E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87F671-F54A-40C6-9FAB-9DDBB743324C}"/>
              </a:ext>
            </a:extLst>
          </p:cNvPr>
          <p:cNvSpPr>
            <a:spLocks noGrp="1"/>
          </p:cNvSpPr>
          <p:nvPr/>
        </p:nvSpPr>
        <p:spPr>
          <a:xfrm>
            <a:off x="1285875" y="4733925"/>
            <a:ext cx="171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7AB267A-75B6-41D6-B4EE-0EFF06248D6C}"/>
              </a:ext>
            </a:extLst>
          </p:cNvPr>
          <p:cNvSpPr>
            <a:spLocks noGrp="1"/>
          </p:cNvSpPr>
          <p:nvPr/>
        </p:nvSpPr>
        <p:spPr>
          <a:xfrm>
            <a:off x="1809750" y="461010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E2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42AF5F-C6C2-4307-8227-F236F186F9A1}"/>
              </a:ext>
            </a:extLst>
          </p:cNvPr>
          <p:cNvSpPr>
            <a:spLocks noGrp="1"/>
          </p:cNvSpPr>
          <p:nvPr/>
        </p:nvSpPr>
        <p:spPr>
          <a:xfrm>
            <a:off x="2057400" y="4752975"/>
            <a:ext cx="752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 i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263238"/>
                </a:solidFill>
                <a:latin typeface="Aptos"/>
                <a:ea typeface="Aptos"/>
                <a:cs typeface="Aptos"/>
              </a:rPr>
              <a:t>Choose a module and perform required operations.</a:t>
            </a:r>
          </a:p>
        </p:txBody>
      </p:sp>
    </p:spTree>
    <p:extLst>
      <p:ext uri="{BB962C8B-B14F-4D97-AF65-F5344CB8AC3E}">
        <p14:creationId xmlns:p14="http://schemas.microsoft.com/office/powerpoint/2010/main" val="2067134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69A8802-034D-44C3-A4EE-D08C2E0855D8}"/>
              </a:ext>
            </a:extLst>
          </p:cNvPr>
          <p:cNvSpPr>
            <a:spLocks noGrp="1"/>
          </p:cNvSpPr>
          <p:nvPr/>
        </p:nvSpPr>
        <p:spPr>
          <a:xfrm>
            <a:off x="800100" y="819150"/>
            <a:ext cx="428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BEA72-BBD7-4558-A46D-FA112891EF9D}"/>
              </a:ext>
            </a:extLst>
          </p:cNvPr>
          <p:cNvSpPr>
            <a:spLocks noGrp="1"/>
          </p:cNvSpPr>
          <p:nvPr/>
        </p:nvSpPr>
        <p:spPr>
          <a:xfrm>
            <a:off x="838200" y="1562100"/>
            <a:ext cx="1257300" cy="57150"/>
          </a:xfrm>
          <a:prstGeom prst="rect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53CA87-ECC6-4C5E-97EC-10418E471D20}"/>
              </a:ext>
            </a:extLst>
          </p:cNvPr>
          <p:cNvSpPr>
            <a:spLocks noGrp="1"/>
          </p:cNvSpPr>
          <p:nvPr/>
        </p:nvSpPr>
        <p:spPr>
          <a:xfrm>
            <a:off x="1028700" y="22955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1EA6D-A42E-40AA-845C-15C0E2255AFE}"/>
              </a:ext>
            </a:extLst>
          </p:cNvPr>
          <p:cNvSpPr>
            <a:spLocks noGrp="1"/>
          </p:cNvSpPr>
          <p:nvPr/>
        </p:nvSpPr>
        <p:spPr>
          <a:xfrm>
            <a:off x="1276350" y="2209800"/>
            <a:ext cx="7753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project demonstrates a complete sports academy database workflow.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407A92-0F96-4A21-8520-790C739AEFDB}"/>
              </a:ext>
            </a:extLst>
          </p:cNvPr>
          <p:cNvSpPr>
            <a:spLocks noGrp="1"/>
          </p:cNvSpPr>
          <p:nvPr/>
        </p:nvSpPr>
        <p:spPr>
          <a:xfrm>
            <a:off x="1028700" y="296227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79E9C-0EB4-43B5-AC51-0690274A3AD8}"/>
              </a:ext>
            </a:extLst>
          </p:cNvPr>
          <p:cNvSpPr>
            <a:spLocks noGrp="1"/>
          </p:cNvSpPr>
          <p:nvPr/>
        </p:nvSpPr>
        <p:spPr>
          <a:xfrm>
            <a:off x="1276350" y="2876550"/>
            <a:ext cx="7753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Tables and relationships model real academy data clearly.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E93B6A-1ACD-43FD-BAF7-0B981CC200F5}"/>
              </a:ext>
            </a:extLst>
          </p:cNvPr>
          <p:cNvSpPr>
            <a:spLocks noGrp="1"/>
          </p:cNvSpPr>
          <p:nvPr/>
        </p:nvSpPr>
        <p:spPr>
          <a:xfrm>
            <a:off x="1028700" y="362902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5B6E22-8093-489B-98E7-E229FA4F83BC}"/>
              </a:ext>
            </a:extLst>
          </p:cNvPr>
          <p:cNvSpPr>
            <a:spLocks noGrp="1"/>
          </p:cNvSpPr>
          <p:nvPr/>
        </p:nvSpPr>
        <p:spPr>
          <a:xfrm>
            <a:off x="1276350" y="3543300"/>
            <a:ext cx="7753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SQL*Plus menus make the project interactive and easy to demonstrate.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F6A547-F1B5-4E72-8103-3C910B8EF30C}"/>
              </a:ext>
            </a:extLst>
          </p:cNvPr>
          <p:cNvSpPr>
            <a:spLocks noGrp="1"/>
          </p:cNvSpPr>
          <p:nvPr/>
        </p:nvSpPr>
        <p:spPr>
          <a:xfrm>
            <a:off x="1028700" y="4295775"/>
            <a:ext cx="95250" cy="95250"/>
          </a:xfrm>
          <a:prstGeom prst="ellipse">
            <a:avLst/>
          </a:prstGeom>
          <a:solidFill>
            <a:srgbClr val="F4B94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07832D-8792-478E-8BD2-43E8EFF5E321}"/>
              </a:ext>
            </a:extLst>
          </p:cNvPr>
          <p:cNvSpPr>
            <a:spLocks noGrp="1"/>
          </p:cNvSpPr>
          <p:nvPr/>
        </p:nvSpPr>
        <p:spPr>
          <a:xfrm>
            <a:off x="1276350" y="4210050"/>
            <a:ext cx="7753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Debugging improved setup, navigation, searching, display, and reports.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1DFE3C8-6E2B-43FA-B3ED-A304BE81C195}"/>
              </a:ext>
            </a:extLst>
          </p:cNvPr>
          <p:cNvSpPr>
            <a:spLocks noGrp="1"/>
          </p:cNvSpPr>
          <p:nvPr/>
        </p:nvSpPr>
        <p:spPr>
          <a:xfrm>
            <a:off x="8065477" y="1200150"/>
            <a:ext cx="2952750" cy="3619500"/>
          </a:xfrm>
          <a:prstGeom prst="roundRect">
            <a:avLst>
              <a:gd name="adj" fmla="val 5161"/>
            </a:avLst>
          </a:prstGeom>
          <a:solidFill>
            <a:srgbClr val="174F4D"/>
          </a:solidFill>
          <a:ln w="9525">
            <a:solidFill>
              <a:srgbClr val="2A6D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56941C-049C-4F44-BC5D-B526751CE1D3}"/>
              </a:ext>
            </a:extLst>
          </p:cNvPr>
          <p:cNvSpPr>
            <a:spLocks noGrp="1"/>
          </p:cNvSpPr>
          <p:nvPr/>
        </p:nvSpPr>
        <p:spPr>
          <a:xfrm>
            <a:off x="8286750" y="16954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 i="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4B942"/>
                </a:solidFill>
                <a:latin typeface="Aptos"/>
                <a:ea typeface="Aptos"/>
                <a:cs typeface="Aptos"/>
              </a:rPr>
              <a:t>Final takeaway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DC3445-1E1B-4C50-BD5A-DAF04BA76910}"/>
              </a:ext>
            </a:extLst>
          </p:cNvPr>
          <p:cNvSpPr>
            <a:spLocks noGrp="1"/>
          </p:cNvSpPr>
          <p:nvPr/>
        </p:nvSpPr>
        <p:spPr>
          <a:xfrm>
            <a:off x="8286750" y="2209800"/>
            <a:ext cx="2190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strong database project is not only about storing data. It is about making information reliable, connected, searchable, and presentable.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1F4CB1-9178-4F4B-81C0-4227C9F588E2}"/>
              </a:ext>
            </a:extLst>
          </p:cNvPr>
          <p:cNvSpPr>
            <a:spLocks noGrp="1"/>
          </p:cNvSpPr>
          <p:nvPr/>
        </p:nvSpPr>
        <p:spPr>
          <a:xfrm>
            <a:off x="838200" y="5619750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400" b="1" i="0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F4B942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777906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1211</Words>
  <Application>Microsoft Office PowerPoint</Application>
  <DocSecurity>0</DocSecurity>
  <PresentationFormat>Widescreen</PresentationFormat>
  <Paragraphs>250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Hiralkumar Pujara</cp:lastModifiedBy>
  <cp:revision>1</cp:revision>
  <dcterms:created xsi:type="dcterms:W3CDTF">2026-06-19T21:46:44Z</dcterms:created>
  <dcterms:modified xsi:type="dcterms:W3CDTF">2026-06-19T22:01:30Z</dcterms:modified>
</cp:coreProperties>
</file>